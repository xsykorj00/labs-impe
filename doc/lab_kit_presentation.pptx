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4" r:id="rId3"/>
    <p:sldId id="332" r:id="rId4"/>
    <p:sldId id="325" r:id="rId5"/>
    <p:sldId id="326" r:id="rId6"/>
    <p:sldId id="327" r:id="rId7"/>
    <p:sldId id="328" r:id="rId8"/>
    <p:sldId id="329" r:id="rId9"/>
    <p:sldId id="335" r:id="rId10"/>
    <p:sldId id="331" r:id="rId11"/>
    <p:sldId id="336" r:id="rId12"/>
    <p:sldId id="340" r:id="rId13"/>
    <p:sldId id="337" r:id="rId14"/>
    <p:sldId id="333" r:id="rId15"/>
    <p:sldId id="334" r:id="rId16"/>
    <p:sldId id="25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9E0"/>
    <a:srgbClr val="B9000C"/>
    <a:srgbClr val="FE000C"/>
    <a:srgbClr val="E6E6E6"/>
    <a:srgbClr val="4D4D4D"/>
    <a:srgbClr val="1B8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5461" autoAdjust="0"/>
  </p:normalViewPr>
  <p:slideViewPr>
    <p:cSldViewPr showGuides="1">
      <p:cViewPr>
        <p:scale>
          <a:sx n="66" d="100"/>
          <a:sy n="66" d="100"/>
        </p:scale>
        <p:origin x="1148" y="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5" d="100"/>
          <a:sy n="105" d="100"/>
        </p:scale>
        <p:origin x="32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CF3FF1D-F075-41F6-B290-07919A4348D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67820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11FA9D6-BDC7-4110-B055-029A3A5CC98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15043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8118511" y="6530975"/>
            <a:ext cx="49213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-4564" y="-26639"/>
            <a:ext cx="9148564" cy="3598863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>
              <a:effectLst>
                <a:reflection endPos="65000" dist="50800" dir="5400000" sy="-100000" algn="bl" rotWithShape="0"/>
              </a:effectLst>
            </a:endParaRPr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8131208" y="6530975"/>
            <a:ext cx="36513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8131208" y="6530975"/>
            <a:ext cx="36513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3621088"/>
            <a:ext cx="5598114" cy="1032048"/>
          </a:xfrm>
        </p:spPr>
        <p:txBody>
          <a:bodyPr/>
          <a:lstStyle>
            <a:lvl1pPr marL="0" indent="0" algn="r"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  <a:endParaRPr lang="cs-CZ" dirty="0"/>
          </a:p>
        </p:txBody>
      </p:sp>
      <p:sp>
        <p:nvSpPr>
          <p:cNvPr id="24064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958985"/>
            <a:ext cx="5598114" cy="1254125"/>
          </a:xfrm>
        </p:spPr>
        <p:txBody>
          <a:bodyPr/>
          <a:lstStyle>
            <a:lvl1pPr algn="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cs-CZ" dirty="0"/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23176" y="5131051"/>
            <a:ext cx="4104456" cy="91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0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8487" y="764704"/>
            <a:ext cx="8640763" cy="533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Extended Abstract of Ph.D. Thesis</a:t>
            </a:r>
            <a:r>
              <a:rPr lang="cs-CZ" dirty="0"/>
              <a:t> </a:t>
            </a:r>
            <a:r>
              <a:rPr lang="en-US" dirty="0"/>
              <a:t>  (26.0</a:t>
            </a:r>
            <a:r>
              <a:rPr lang="cs-CZ" dirty="0"/>
              <a:t>2</a:t>
            </a:r>
            <a:r>
              <a:rPr lang="en-US" dirty="0"/>
              <a:t>.2016)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39148-7006-41C4-ABC2-D2A9F4595A63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19850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67" indent="0">
              <a:buNone/>
              <a:defRPr sz="1800"/>
            </a:lvl2pPr>
            <a:lvl3pPr marL="914332" indent="0">
              <a:buNone/>
              <a:defRPr sz="1600"/>
            </a:lvl3pPr>
            <a:lvl4pPr marL="1371498" indent="0">
              <a:buNone/>
              <a:defRPr sz="1400"/>
            </a:lvl4pPr>
            <a:lvl5pPr marL="1828664" indent="0">
              <a:buNone/>
              <a:defRPr sz="1400"/>
            </a:lvl5pPr>
            <a:lvl6pPr marL="2285830" indent="0">
              <a:buNone/>
              <a:defRPr sz="1400"/>
            </a:lvl6pPr>
            <a:lvl7pPr marL="2742994" indent="0">
              <a:buNone/>
              <a:defRPr sz="1400"/>
            </a:lvl7pPr>
            <a:lvl8pPr marL="3200160" indent="0">
              <a:buNone/>
              <a:defRPr sz="1400"/>
            </a:lvl8pPr>
            <a:lvl9pPr marL="365732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FEAC19-CD6C-4528-B09F-367B3931C207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6" name="Obdélník 5"/>
          <p:cNvSpPr/>
          <p:nvPr userDrawn="1"/>
        </p:nvSpPr>
        <p:spPr bwMode="auto">
          <a:xfrm>
            <a:off x="0" y="0"/>
            <a:ext cx="9144000" cy="5760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9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4243388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719643" y="765175"/>
            <a:ext cx="4244975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AC346-A157-4EF4-A06B-3AB421B38C20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68728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4FB18-8EAF-4DED-A64D-DB11D411D2B0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837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5" y="-100013"/>
            <a:ext cx="7699375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9E105-8003-4962-AFA0-54D4ABFA0C7D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9312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3855" y="-100013"/>
            <a:ext cx="7699375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692706"/>
            <a:ext cx="5111750" cy="54334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2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30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9C9DCE-74AD-40A2-919B-1CC767854C98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41735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3855" y="-100013"/>
            <a:ext cx="7699375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2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30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6DA920-88DF-466E-B7A8-39DA64F1E1EB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85334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E718B-A6F6-45FB-B0EA-3A4F7A6FC695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45924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5" y="-100013"/>
            <a:ext cx="7699375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05615" y="-100013"/>
            <a:ext cx="2159000" cy="6196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23855" y="-100013"/>
            <a:ext cx="6329363" cy="6196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5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6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8E8744-0EE0-418F-9F78-FB0E984CBE63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20021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0" y="6497638"/>
            <a:ext cx="9144000" cy="360362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grpSp>
        <p:nvGrpSpPr>
          <p:cNvPr id="2" name="Skupina 1"/>
          <p:cNvGrpSpPr/>
          <p:nvPr userDrawn="1"/>
        </p:nvGrpSpPr>
        <p:grpSpPr>
          <a:xfrm>
            <a:off x="0" y="1"/>
            <a:ext cx="9144000" cy="547697"/>
            <a:chOff x="0" y="1"/>
            <a:chExt cx="9144000" cy="547697"/>
          </a:xfrm>
        </p:grpSpPr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0" y="512773"/>
              <a:ext cx="9144000" cy="34925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0" y="1"/>
              <a:ext cx="9144000" cy="512763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</p:grp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5" y="-100013"/>
            <a:ext cx="7699375" cy="72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nadpisů</a:t>
            </a:r>
            <a:r>
              <a:rPr lang="en-US" altLang="cs-CZ" dirty="0"/>
              <a:t>.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5" y="765175"/>
            <a:ext cx="8640763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styly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textu</a:t>
            </a:r>
            <a:r>
              <a:rPr lang="en-US" altLang="cs-CZ" dirty="0"/>
              <a:t>.</a:t>
            </a:r>
          </a:p>
          <a:p>
            <a:pPr lvl="1"/>
            <a:r>
              <a:rPr lang="en-US" altLang="cs-CZ" dirty="0" err="1"/>
              <a:t>Druhá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2"/>
            <a:r>
              <a:rPr lang="en-US" altLang="cs-CZ" dirty="0" err="1"/>
              <a:t>Třetí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3"/>
            <a:r>
              <a:rPr lang="en-US" altLang="cs-CZ" dirty="0" err="1"/>
              <a:t>Čtvrtá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4"/>
            <a:r>
              <a:rPr lang="en-US" altLang="cs-CZ" dirty="0" err="1"/>
              <a:t>Pátá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7950" y="6524635"/>
            <a:ext cx="78486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COST LD14055 Průběžné oponentní řízení  (26.01.2016)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72450" y="6524635"/>
            <a:ext cx="8270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89CB1D-D8FD-4B5B-916F-DD5C38307548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15900" y="115889"/>
            <a:ext cx="47625" cy="288925"/>
          </a:xfrm>
          <a:prstGeom prst="rect">
            <a:avLst/>
          </a:prstGeom>
          <a:solidFill>
            <a:srgbClr val="FE00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064505" y="6530975"/>
            <a:ext cx="49213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8083001" y="116635"/>
            <a:ext cx="47625" cy="288925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pic>
        <p:nvPicPr>
          <p:cNvPr id="14" name="Obrázek 13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882" y="101557"/>
            <a:ext cx="840862" cy="33679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2" r:id="rId2"/>
    <p:sldLayoutId id="2147483703" r:id="rId3"/>
    <p:sldLayoutId id="2147483704" r:id="rId4"/>
    <p:sldLayoutId id="2147483705" r:id="rId5"/>
    <p:sldLayoutId id="2147483707" r:id="rId6"/>
    <p:sldLayoutId id="2147483710" r:id="rId7"/>
    <p:sldLayoutId id="2147483711" r:id="rId8"/>
    <p:sldLayoutId id="2147483708" r:id="rId9"/>
    <p:sldLayoutId id="2147483712" r:id="rId1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00A9E0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457167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6pPr>
      <a:lvl7pPr marL="914332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7pPr>
      <a:lvl8pPr marL="1371498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8pPr>
      <a:lvl9pPr marL="1828664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9pPr>
    </p:titleStyle>
    <p:bodyStyle>
      <a:lvl1pPr marL="342874" indent="-342874" algn="l" rtl="0" eaLnBrk="1" fontAlgn="base" hangingPunct="1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marL="742895" indent="-28573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marL="1142914" indent="-228584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marL="1600080" indent="-228584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marL="2057247" indent="-228584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2514412" indent="-228584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578" indent="-228584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8744" indent="-228584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5910" indent="-228584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15.sv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7908" y="2221641"/>
            <a:ext cx="6128308" cy="942244"/>
          </a:xfrm>
        </p:spPr>
        <p:txBody>
          <a:bodyPr/>
          <a:lstStyle/>
          <a:p>
            <a:r>
              <a:rPr lang="en-US" sz="2800" dirty="0"/>
              <a:t>Introduction to the Laboratory </a:t>
            </a:r>
            <a:r>
              <a:rPr lang="en-US" sz="2800" dirty="0" err="1"/>
              <a:t>ARMKit</a:t>
            </a:r>
            <a:r>
              <a:rPr lang="en-US" sz="2800" dirty="0"/>
              <a:t> with MCXC143VFT</a:t>
            </a:r>
            <a:endParaRPr lang="cs-CZ" altLang="cs-CZ" sz="28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551" y="3694115"/>
            <a:ext cx="6337501" cy="455612"/>
          </a:xfrm>
        </p:spPr>
        <p:txBody>
          <a:bodyPr/>
          <a:lstStyle/>
          <a:p>
            <a:r>
              <a:rPr lang="en-US" dirty="0"/>
              <a:t>Juraj S</a:t>
            </a:r>
            <a:r>
              <a:rPr lang="sk-SK" dirty="0"/>
              <a:t>ý</a:t>
            </a:r>
            <a:r>
              <a:rPr lang="en-US" dirty="0"/>
              <a:t>kora </a:t>
            </a:r>
            <a:endParaRPr lang="cs-CZ" altLang="cs-CZ" dirty="0"/>
          </a:p>
          <a:p>
            <a:endParaRPr lang="cs-CZ" altLang="cs-CZ" dirty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-1044624" y="4149731"/>
            <a:ext cx="793812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Brno </a:t>
            </a:r>
            <a:r>
              <a:rPr lang="sk-SK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sk-SK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sk-SK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</a:t>
            </a: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sk-SK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</a:t>
            </a: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endParaRPr lang="en-US" altLang="cs-CZ" sz="1400" b="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ž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ě</a:t>
            </a:r>
            <a:r>
              <a:rPr lang="en-US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chova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2, 612 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Brno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Czech </a:t>
            </a:r>
            <a:r>
              <a:rPr lang="cs-CZ" altLang="cs-CZ" sz="1400" b="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republic</a:t>
            </a:r>
            <a:endParaRPr lang="cs-CZ" altLang="cs-CZ" sz="1400" b="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xsykorj00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@fit.vutbr.cz</a:t>
            </a: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endParaRPr lang="en-US" altLang="cs-CZ" sz="1400" b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r>
              <a:rPr lang="en-US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cs-CZ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n-GB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sk-SK" altLang="cs-CZ" sz="1400" b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altLang="cs-CZ" sz="1400" b="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Content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buClr>
                <a:srgbClr val="00A9E0"/>
              </a:buClr>
            </a:pPr>
            <a:r>
              <a:rPr lang="en-US" sz="2800" dirty="0"/>
              <a:t>32-bit ARM MCU laboratory kit</a:t>
            </a:r>
            <a:endParaRPr lang="sk-SK" sz="2800" dirty="0"/>
          </a:p>
          <a:p>
            <a:pPr>
              <a:buClr>
                <a:srgbClr val="00A9E0"/>
              </a:buClr>
            </a:pPr>
            <a:r>
              <a:rPr lang="en-US" sz="2800" dirty="0"/>
              <a:t>Schematic: debug interface and power supply</a:t>
            </a:r>
            <a:endParaRPr lang="sk-SK" sz="2800" dirty="0"/>
          </a:p>
          <a:p>
            <a:pPr>
              <a:buClr>
                <a:srgbClr val="00A9E0"/>
              </a:buClr>
            </a:pPr>
            <a:r>
              <a:rPr lang="en-US" sz="2800" dirty="0"/>
              <a:t>Schematic: target MCU MCXC143VFT and peripherals</a:t>
            </a:r>
            <a:endParaRPr lang="sk-SK" sz="2800" dirty="0"/>
          </a:p>
          <a:p>
            <a:pPr>
              <a:buClr>
                <a:srgbClr val="00A9E0"/>
              </a:buClr>
            </a:pPr>
            <a:r>
              <a:rPr lang="en-US" sz="2800" dirty="0" err="1"/>
              <a:t>MCUXpresso</a:t>
            </a:r>
            <a:r>
              <a:rPr lang="en-US" sz="2800" dirty="0"/>
              <a:t> IDE– project creation</a:t>
            </a:r>
            <a:endParaRPr lang="sk-SK" sz="2800" dirty="0"/>
          </a:p>
          <a:p>
            <a:pPr>
              <a:buClr>
                <a:srgbClr val="00A9E0"/>
              </a:buClr>
            </a:pPr>
            <a:r>
              <a:rPr lang="en-US" sz="2800" dirty="0" err="1"/>
              <a:t>MCUXpresso</a:t>
            </a:r>
            <a:r>
              <a:rPr lang="en-US" sz="2800" dirty="0"/>
              <a:t> IDE– build, flash and debug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GB" altLang="cs-CZ" smtClean="0"/>
              <a:pPr/>
              <a:t>2</a:t>
            </a:fld>
            <a:endParaRPr lang="en-GB" altLang="cs-CZ" dirty="0"/>
          </a:p>
        </p:txBody>
      </p:sp>
      <p:sp>
        <p:nvSpPr>
          <p:cNvPr id="6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26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32-bit ARM MCU Laboratory Kit</a:t>
            </a:r>
          </a:p>
        </p:txBody>
      </p:sp>
      <p:sp>
        <p:nvSpPr>
          <p:cNvPr id="2" name="Zástupný symbol pro obsah 2">
            <a:extLst>
              <a:ext uri="{FF2B5EF4-FFF2-40B4-BE49-F238E27FC236}">
                <a16:creationId xmlns:a16="http://schemas.microsoft.com/office/drawing/2014/main" id="{0CCECFEA-D6E2-3AE9-7E56-894F026C6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4243388" cy="53308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Kits are located in laboratory </a:t>
            </a:r>
            <a:r>
              <a:rPr lang="en-US" sz="2400" b="1" dirty="0"/>
              <a:t>L306</a:t>
            </a:r>
            <a:endParaRPr lang="sk-SK" sz="2400" b="1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Target MCU: NXP </a:t>
            </a:r>
            <a:r>
              <a:rPr lang="en-US" sz="2400" b="1" dirty="0"/>
              <a:t>MCXC143VFT</a:t>
            </a:r>
            <a:endParaRPr lang="sk-SK" sz="2400" b="1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ARM</a:t>
            </a:r>
            <a:r>
              <a:rPr lang="sk-SK" sz="2400" dirty="0"/>
              <a:t> </a:t>
            </a:r>
            <a:r>
              <a:rPr lang="en-US" sz="2400" b="1" dirty="0"/>
              <a:t>Cortex-M0+</a:t>
            </a:r>
            <a:r>
              <a:rPr lang="en-US" sz="2400" dirty="0"/>
              <a:t> core, up to </a:t>
            </a:r>
            <a:r>
              <a:rPr lang="en-US" sz="2400" b="1" dirty="0"/>
              <a:t>48MHz</a:t>
            </a:r>
            <a:endParaRPr lang="sk-SK" sz="2400" b="1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256kB Flash, 32kB SRAM</a:t>
            </a:r>
            <a:endParaRPr lang="sk-SK" sz="2400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48-pin LQFP package</a:t>
            </a:r>
            <a:endParaRPr lang="sk-SK" sz="2400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On-board debugger: </a:t>
            </a:r>
            <a:r>
              <a:rPr lang="en-US" sz="2400" b="1" dirty="0"/>
              <a:t>MCU-Link v3 </a:t>
            </a:r>
            <a:r>
              <a:rPr lang="en-US" sz="2400" dirty="0"/>
              <a:t>(NXP LPC55S69JEV98)</a:t>
            </a:r>
            <a:endParaRPr lang="sk-SK" sz="2400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b="1" dirty="0"/>
              <a:t>USB-C</a:t>
            </a:r>
            <a:r>
              <a:rPr lang="en-US" sz="2400" dirty="0"/>
              <a:t> connector– power + CMSIS-DAP/SWD debug</a:t>
            </a:r>
            <a:endParaRPr lang="sk-SK" sz="2400" dirty="0"/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3.3V main supply via </a:t>
            </a:r>
            <a:r>
              <a:rPr lang="en-US" sz="2400" b="1" dirty="0"/>
              <a:t>RT9080-33</a:t>
            </a:r>
            <a:r>
              <a:rPr lang="en-US" sz="2400" dirty="0"/>
              <a:t> LDO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F826FF-AC27-7231-0376-B8C32BBAB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43" y="881053"/>
            <a:ext cx="4244975" cy="5099069"/>
          </a:xfrm>
          <a:prstGeom prst="rect">
            <a:avLst/>
          </a:prstGeom>
          <a:noFill/>
        </p:spPr>
      </p:pic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7A91BEF3-90AA-96B9-2CDC-AC8B8519B9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 smtClean="0"/>
              <a:pPr>
                <a:spcAft>
                  <a:spcPts val="600"/>
                </a:spcAft>
              </a:pPr>
              <a:t>3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93970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Schematic– Debug Interface </a:t>
            </a:r>
            <a:endParaRPr lang="en-GB" dirty="0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FF3A73-3B34-1514-B777-C4265BAC4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4243388" cy="5330825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600" dirty="0"/>
              <a:t>Key components: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600" b="1" dirty="0"/>
              <a:t>USB4105-GF-A</a:t>
            </a:r>
            <a:r>
              <a:rPr lang="sk-SK" sz="2600" dirty="0"/>
              <a:t> </a:t>
            </a:r>
            <a:r>
              <a:rPr lang="en-US" sz="2600" dirty="0"/>
              <a:t>– USB-C</a:t>
            </a:r>
            <a:r>
              <a:rPr lang="sk-SK" sz="2600" dirty="0"/>
              <a:t> </a:t>
            </a:r>
            <a:r>
              <a:rPr lang="en-US" sz="2600" dirty="0"/>
              <a:t>receptacle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600" b="1" dirty="0"/>
              <a:t>LPC55S69JEV98</a:t>
            </a:r>
            <a:r>
              <a:rPr lang="sk-SK" sz="2600" dirty="0"/>
              <a:t> </a:t>
            </a:r>
            <a:r>
              <a:rPr lang="en-US" sz="2600" dirty="0"/>
              <a:t>– MCU-Link v3 chip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600" b="1" dirty="0"/>
              <a:t>RT9080-33GJ5</a:t>
            </a:r>
            <a:r>
              <a:rPr lang="sk-SK" sz="2600" dirty="0"/>
              <a:t> </a:t>
            </a:r>
            <a:r>
              <a:rPr lang="en-US" sz="2600" dirty="0"/>
              <a:t>– 3.3V</a:t>
            </a:r>
            <a:r>
              <a:rPr lang="sk-SK" sz="2600" dirty="0"/>
              <a:t> </a:t>
            </a:r>
            <a:r>
              <a:rPr lang="en-US" sz="2600" dirty="0"/>
              <a:t>LDO regulator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600" b="1" dirty="0"/>
              <a:t>MPZ1608S331</a:t>
            </a:r>
            <a:r>
              <a:rPr lang="sk-SK" sz="2600" b="1" dirty="0"/>
              <a:t> </a:t>
            </a:r>
            <a:r>
              <a:rPr lang="en-US" sz="2600" dirty="0"/>
              <a:t>– ferrite</a:t>
            </a:r>
            <a:r>
              <a:rPr lang="sk-SK" sz="2600" dirty="0"/>
              <a:t> </a:t>
            </a:r>
            <a:r>
              <a:rPr lang="en-US" sz="2600" dirty="0"/>
              <a:t>bead EMI filters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600" b="1" dirty="0"/>
              <a:t>Y1</a:t>
            </a:r>
            <a:r>
              <a:rPr lang="sk-SK" sz="2600" dirty="0"/>
              <a:t> </a:t>
            </a:r>
            <a:r>
              <a:rPr lang="en-US" sz="2600" dirty="0"/>
              <a:t>–16MHzcrystal for</a:t>
            </a:r>
            <a:r>
              <a:rPr lang="sk-SK" sz="2600" dirty="0"/>
              <a:t> </a:t>
            </a:r>
            <a:r>
              <a:rPr lang="en-US" sz="2600" dirty="0"/>
              <a:t>MCU-Link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1B810-26B3-3B39-460B-E58F107897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43" y="1928928"/>
            <a:ext cx="4244975" cy="3003319"/>
          </a:xfrm>
          <a:prstGeom prst="rect">
            <a:avLst/>
          </a:prstGeom>
          <a:noFill/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A99BD4-A614-2359-A612-1B6C869DEA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4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371575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Schematic</a:t>
            </a:r>
            <a:r>
              <a:rPr lang="sk-SK" dirty="0"/>
              <a:t> </a:t>
            </a:r>
            <a:r>
              <a:rPr lang="en-US" dirty="0"/>
              <a:t>– SWD Debug Interface 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EB992E-B957-D834-66A3-EFCF30416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04" y="764704"/>
            <a:ext cx="8046529" cy="5330825"/>
          </a:xfrm>
          <a:noFill/>
        </p:spPr>
      </p:pic>
      <p:sp>
        <p:nvSpPr>
          <p:cNvPr id="6" name="Zástupný symbol pro zápatí 3">
            <a:extLst>
              <a:ext uri="{FF2B5EF4-FFF2-40B4-BE49-F238E27FC236}">
                <a16:creationId xmlns:a16="http://schemas.microsoft.com/office/drawing/2014/main" id="{B7914017-5B24-FE21-32E3-6FD04900B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sk-SK"/>
              <a:t>IMPe lab kit demo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5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199863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Schematic</a:t>
            </a:r>
            <a:r>
              <a:rPr lang="sk-SK" dirty="0"/>
              <a:t> </a:t>
            </a:r>
            <a:r>
              <a:rPr lang="en-US" dirty="0"/>
              <a:t>– Target MCU MCXC143VFT</a:t>
            </a:r>
            <a:endParaRPr lang="en-GB" dirty="0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BA608CD8-0F9A-8DB7-6C46-E5387F100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3888109" cy="5330825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Key pin assignments: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PTA0/SWD CLK,</a:t>
            </a:r>
            <a:r>
              <a:rPr lang="sk-SK" sz="2200" b="1" dirty="0"/>
              <a:t> </a:t>
            </a:r>
            <a:r>
              <a:rPr lang="en-US" sz="2200" b="1" dirty="0"/>
              <a:t>PTA3/SWD DIO,</a:t>
            </a:r>
            <a:r>
              <a:rPr lang="sk-SK" sz="2200" b="1" dirty="0"/>
              <a:t> </a:t>
            </a:r>
            <a:r>
              <a:rPr lang="en-US" sz="2200" b="1" dirty="0"/>
              <a:t>PTA20/RESET b</a:t>
            </a:r>
            <a:r>
              <a:rPr lang="sk-SK" sz="2200" b="1" dirty="0"/>
              <a:t> </a:t>
            </a:r>
            <a:r>
              <a:rPr lang="en-US" sz="2200" dirty="0"/>
              <a:t>– SWD</a:t>
            </a:r>
            <a:r>
              <a:rPr lang="sk-SK" sz="2200" dirty="0"/>
              <a:t> </a:t>
            </a:r>
            <a:r>
              <a:rPr lang="en-US" sz="2200" dirty="0"/>
              <a:t>debug interface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PTE16/UART2 TX,</a:t>
            </a:r>
            <a:r>
              <a:rPr lang="sk-SK" sz="2200" b="1" dirty="0"/>
              <a:t> </a:t>
            </a:r>
            <a:r>
              <a:rPr lang="en-US" sz="2200" b="1" dirty="0"/>
              <a:t>PTE17/UART2 RX</a:t>
            </a:r>
            <a:r>
              <a:rPr lang="sk-SK" sz="2200" b="1" dirty="0"/>
              <a:t> </a:t>
            </a:r>
            <a:r>
              <a:rPr lang="en-US" sz="2200" dirty="0"/>
              <a:t>– RS-232 via MAX3221E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PTD0-2/TPM0 CH0-2</a:t>
            </a:r>
            <a:r>
              <a:rPr lang="sk-SK" sz="2200" b="1" dirty="0"/>
              <a:t> </a:t>
            </a:r>
            <a:r>
              <a:rPr lang="en-US" sz="2200" dirty="0"/>
              <a:t>– RGB LED PWM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PTB0/TPM1 CH0</a:t>
            </a:r>
            <a:r>
              <a:rPr lang="sk-SK" sz="2200" b="1" dirty="0"/>
              <a:t> </a:t>
            </a:r>
            <a:r>
              <a:rPr lang="en-US" sz="2200" dirty="0"/>
              <a:t>– buzzer</a:t>
            </a:r>
            <a:r>
              <a:rPr lang="sk-SK" sz="2200" dirty="0"/>
              <a:t> </a:t>
            </a:r>
            <a:r>
              <a:rPr lang="en-US" sz="2200" dirty="0"/>
              <a:t>PWM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PTC0/ADC0 SE14</a:t>
            </a:r>
            <a:r>
              <a:rPr lang="sk-SK" sz="2200" b="1" dirty="0"/>
              <a:t> </a:t>
            </a:r>
            <a:r>
              <a:rPr lang="en-US" sz="2200" dirty="0"/>
              <a:t>– sliding potentiometer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VDDA/VREFH/VREFL</a:t>
            </a:r>
            <a:r>
              <a:rPr lang="sk-SK" sz="2200" b="1" dirty="0"/>
              <a:t> </a:t>
            </a:r>
            <a:r>
              <a:rPr lang="en-US" sz="2200" dirty="0"/>
              <a:t>– analog supply and reference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E5593-1B23-AF25-84B4-7ED9E1970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493" y="1703038"/>
            <a:ext cx="4879045" cy="3451923"/>
          </a:xfrm>
          <a:prstGeom prst="rect">
            <a:avLst/>
          </a:prstGeom>
          <a:noFill/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43A51EE-07D3-EC7E-7682-309BC5384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6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330568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Schematic– RS-232 and 7-Segment Display</a:t>
            </a:r>
            <a:endParaRPr lang="en-GB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3B670072-3A1F-57FA-40E6-ED795669B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4243388" cy="5330825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400" b="1" dirty="0"/>
              <a:t>RS-232 serial interface: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Transceiver </a:t>
            </a:r>
            <a:r>
              <a:rPr lang="en-US" sz="2400" b="1" dirty="0"/>
              <a:t>MAX3221ECDBR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Connector </a:t>
            </a:r>
            <a:r>
              <a:rPr lang="en-US" sz="2400" b="1" dirty="0"/>
              <a:t>DSUB-9F/H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UART2 TX/RX ↔ </a:t>
            </a:r>
            <a:r>
              <a:rPr lang="en-US" sz="2400" dirty="0" err="1"/>
              <a:t>TxD</a:t>
            </a:r>
            <a:r>
              <a:rPr lang="en-US" sz="2400" dirty="0"/>
              <a:t>/</a:t>
            </a:r>
            <a:r>
              <a:rPr lang="en-US" sz="2400" dirty="0" err="1"/>
              <a:t>RxD</a:t>
            </a:r>
            <a:endParaRPr lang="en-US" sz="2400" dirty="0"/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400" b="1" dirty="0"/>
              <a:t>4-digit 7-segment display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400" b="1" dirty="0"/>
              <a:t>(DS1– LTC-4627G):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Common-anode; digit drive: </a:t>
            </a:r>
            <a:r>
              <a:rPr lang="en-US" sz="2400" b="1" dirty="0"/>
              <a:t>Q1–Q4 </a:t>
            </a:r>
            <a:r>
              <a:rPr lang="en-US" sz="2400" dirty="0"/>
              <a:t>(BSS84PW P-FETs),  </a:t>
            </a:r>
            <a:r>
              <a:rPr lang="en-US" sz="2400" b="1" dirty="0"/>
              <a:t>Q5</a:t>
            </a:r>
            <a:r>
              <a:rPr lang="en-US" sz="2400" dirty="0"/>
              <a:t> drives colon dots (LDOTS)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Segment signals: </a:t>
            </a:r>
            <a:r>
              <a:rPr lang="en-US" sz="2400" b="1" dirty="0"/>
              <a:t>SEG A–G, SEG 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D6372-605E-D50B-91D2-D2C69F12DA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239" y="1152815"/>
            <a:ext cx="4397379" cy="2924257"/>
          </a:xfrm>
          <a:prstGeom prst="rect">
            <a:avLst/>
          </a:prstGeom>
          <a:noFill/>
        </p:spPr>
      </p:pic>
      <p:sp>
        <p:nvSpPr>
          <p:cNvPr id="6" name="Zástupný symbol pro zápatí 3">
            <a:extLst>
              <a:ext uri="{FF2B5EF4-FFF2-40B4-BE49-F238E27FC236}">
                <a16:creationId xmlns:a16="http://schemas.microsoft.com/office/drawing/2014/main" id="{CD8CD113-194C-46D2-79E4-82FC6E98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7</a:t>
            </a:fld>
            <a:endParaRPr lang="en-GB" altLang="cs-CZ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B2E2B7-2741-6A3E-0C0B-4030B67200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239" y="4192722"/>
            <a:ext cx="4424357" cy="14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– Buttons, RGB LED, Buzzer, Potentiometer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GB" altLang="cs-CZ" smtClean="0"/>
              <a:pPr/>
              <a:t>8</a:t>
            </a:fld>
            <a:endParaRPr lang="en-GB" alt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8244EC-F8C7-DF7B-B86E-A26883412B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D81357D3-B3D4-A40A-3E7A-219FA2CE6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1" y="765175"/>
            <a:ext cx="4243388" cy="5330825"/>
          </a:xfrm>
        </p:spPr>
        <p:txBody>
          <a:bodyPr wrap="square" anchor="t">
            <a:noAutofit/>
          </a:bodyPr>
          <a:lstStyle/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Push buttons PB1 – PB5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(SW-ULP12):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 err="1"/>
              <a:t>PBx_RC</a:t>
            </a:r>
            <a:r>
              <a:rPr lang="en-US" sz="2200" b="1" dirty="0"/>
              <a:t>/</a:t>
            </a:r>
            <a:r>
              <a:rPr lang="en-US" sz="2200" b="1" dirty="0" err="1"/>
              <a:t>PBx_GC</a:t>
            </a:r>
            <a:r>
              <a:rPr lang="en-US" sz="2200" b="1" dirty="0"/>
              <a:t> </a:t>
            </a:r>
            <a:r>
              <a:rPr lang="en-US" sz="2200" dirty="0"/>
              <a:t>– GPIO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dirty="0"/>
              <a:t>and LED anode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Analog RGB LED (D3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WP154A4):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LED R/G/B PWM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dirty="0"/>
              <a:t>driven by </a:t>
            </a:r>
            <a:r>
              <a:rPr lang="en-US" sz="2200" b="1" dirty="0"/>
              <a:t>TPM0_CH0–2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dirty="0"/>
              <a:t>R10=300</a:t>
            </a:r>
            <a:r>
              <a:rPr lang="el-GR" sz="2200" dirty="0"/>
              <a:t>Ω, </a:t>
            </a:r>
            <a:r>
              <a:rPr lang="en-US" sz="2200" dirty="0"/>
              <a:t>R11/R12=20</a:t>
            </a:r>
            <a:r>
              <a:rPr lang="el-GR" sz="2200" dirty="0"/>
              <a:t>Ω</a:t>
            </a:r>
            <a:endParaRPr lang="en-US" sz="2200" dirty="0"/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Piezo buzzer (LS1):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dirty="0" err="1"/>
              <a:t>NPNdriver</a:t>
            </a:r>
            <a:r>
              <a:rPr lang="en-US" sz="2200" dirty="0"/>
              <a:t> </a:t>
            </a:r>
            <a:r>
              <a:rPr lang="en-US" sz="2200" b="1" dirty="0"/>
              <a:t>Q6</a:t>
            </a:r>
            <a:r>
              <a:rPr lang="en-US" sz="2200" dirty="0"/>
              <a:t> (BC847C)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dirty="0"/>
              <a:t>Signal: </a:t>
            </a:r>
            <a:r>
              <a:rPr lang="en-US" sz="2200" b="1" dirty="0"/>
              <a:t>BEEPER_PWM </a:t>
            </a:r>
            <a:r>
              <a:rPr lang="en-US" sz="2200" dirty="0"/>
              <a:t>on </a:t>
            </a:r>
            <a:r>
              <a:rPr lang="en-US" sz="2200" b="1" dirty="0"/>
              <a:t>PTB0</a:t>
            </a:r>
          </a:p>
          <a:p>
            <a:pPr marL="0" indent="0">
              <a:lnSpc>
                <a:spcPct val="90000"/>
              </a:lnSpc>
              <a:buClr>
                <a:srgbClr val="00A9E0"/>
              </a:buClr>
              <a:buNone/>
            </a:pPr>
            <a:r>
              <a:rPr lang="en-US" sz="2200" b="1" dirty="0"/>
              <a:t>Sliding potentiometer: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200" b="1" dirty="0"/>
              <a:t>RPOT SLIDE </a:t>
            </a:r>
            <a:r>
              <a:rPr lang="en-US" sz="2200" dirty="0"/>
              <a:t>→</a:t>
            </a:r>
            <a:r>
              <a:rPr lang="en-US" sz="2200" b="1" dirty="0"/>
              <a:t> ADC0 SE14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DF73E1-7E20-EEC9-9774-C0032FDF26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469" y="2502632"/>
            <a:ext cx="2720069" cy="2558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376E8E-0059-1D43-FCAD-43A2B3BFF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612681"/>
            <a:ext cx="3725856" cy="1875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08F88A-261B-AFEC-AC45-9FA1E5B056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4333954"/>
            <a:ext cx="2877710" cy="19763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C2FFCC-8561-2FC0-FC88-2E8D0353AE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647" y="1988839"/>
            <a:ext cx="2961171" cy="16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3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18C004E-9E1B-8A7C-79B5-D3DC118872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911" y="642174"/>
            <a:ext cx="3887339" cy="266880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MCUXpresso</a:t>
            </a:r>
            <a:r>
              <a:rPr lang="en-US" dirty="0"/>
              <a:t> IDE – Creating a New Project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9</a:t>
            </a:fld>
            <a:endParaRPr lang="en-GB" altLang="cs-CZ"/>
          </a:p>
        </p:txBody>
      </p:sp>
      <p:sp>
        <p:nvSpPr>
          <p:cNvPr id="19" name="Zástupný symbol pro obsah 2">
            <a:extLst>
              <a:ext uri="{FF2B5EF4-FFF2-40B4-BE49-F238E27FC236}">
                <a16:creationId xmlns:a16="http://schemas.microsoft.com/office/drawing/2014/main" id="{E918CB50-E07E-DFDE-0399-85368762FA7A}"/>
              </a:ext>
            </a:extLst>
          </p:cNvPr>
          <p:cNvSpPr txBox="1">
            <a:spLocks/>
          </p:cNvSpPr>
          <p:nvPr/>
        </p:nvSpPr>
        <p:spPr bwMode="auto">
          <a:xfrm>
            <a:off x="358487" y="4437112"/>
            <a:ext cx="8640763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1pPr>
            <a:lvl2pPr marL="742895" indent="-28573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2pPr>
            <a:lvl3pPr marL="114291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3pPr>
            <a:lvl4pPr marL="160008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4pPr>
            <a:lvl5pPr marL="2057247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5pPr>
            <a:lvl6pPr marL="2514412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971578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342874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88591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2000" dirty="0"/>
              <a:t>File</a:t>
            </a:r>
            <a:r>
              <a:rPr lang="en-US" sz="2000" b="0" dirty="0"/>
              <a:t> → </a:t>
            </a:r>
            <a:r>
              <a:rPr lang="en-US" sz="2000" dirty="0"/>
              <a:t>New</a:t>
            </a:r>
            <a:r>
              <a:rPr lang="en-US" sz="2000" b="0" dirty="0"/>
              <a:t> →</a:t>
            </a:r>
            <a:r>
              <a:rPr lang="en-US" sz="2000" dirty="0">
                <a:solidFill>
                  <a:srgbClr val="00A9E0"/>
                </a:solidFill>
              </a:rPr>
              <a:t>Create a new C/C++ project</a:t>
            </a:r>
            <a:r>
              <a:rPr lang="en-US" sz="2000" b="0" dirty="0"/>
              <a:t>; Select </a:t>
            </a:r>
            <a:r>
              <a:rPr lang="en-US" sz="2000" b="0" dirty="0">
                <a:solidFill>
                  <a:srgbClr val="00A9E0"/>
                </a:solidFill>
              </a:rPr>
              <a:t>NXP </a:t>
            </a:r>
            <a:r>
              <a:rPr lang="en-US" sz="2000" b="0" dirty="0" err="1">
                <a:solidFill>
                  <a:srgbClr val="00A9E0"/>
                </a:solidFill>
              </a:rPr>
              <a:t>MCUXpresso</a:t>
            </a:r>
            <a:r>
              <a:rPr lang="en-US" sz="2000" b="0" dirty="0">
                <a:solidFill>
                  <a:srgbClr val="00A9E0"/>
                </a:solidFill>
              </a:rPr>
              <a:t> SDK Project</a:t>
            </a:r>
            <a:r>
              <a:rPr lang="en-US" sz="2000" b="0" dirty="0"/>
              <a:t>;  Choose </a:t>
            </a:r>
            <a:r>
              <a:rPr lang="en-US" sz="2000" dirty="0"/>
              <a:t>SDK</a:t>
            </a:r>
            <a:r>
              <a:rPr lang="en-US" sz="2000" b="0" dirty="0"/>
              <a:t> for </a:t>
            </a:r>
            <a:r>
              <a:rPr lang="en-US" sz="2000" dirty="0"/>
              <a:t>MCXC143VFT</a:t>
            </a:r>
            <a:r>
              <a:rPr lang="en-US" sz="2000" b="0" dirty="0"/>
              <a:t> (download from </a:t>
            </a:r>
            <a:r>
              <a:rPr lang="en-US" sz="2000" b="0" i="1" dirty="0"/>
              <a:t>mcuxpresso.nxp.com </a:t>
            </a:r>
            <a:r>
              <a:rPr lang="en-US" sz="2000" b="0" dirty="0"/>
              <a:t>if not yet installed)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2000" b="0" dirty="0"/>
              <a:t>Enter a </a:t>
            </a:r>
            <a:r>
              <a:rPr lang="en-US" sz="2000" dirty="0"/>
              <a:t>project name</a:t>
            </a:r>
            <a:r>
              <a:rPr lang="en-US" sz="2000" b="0" dirty="0"/>
              <a:t>; set the workspace, e.g. </a:t>
            </a:r>
            <a:r>
              <a:rPr lang="en-US" sz="2000" b="0" i="1" dirty="0">
                <a:solidFill>
                  <a:srgbClr val="00A9E0"/>
                </a:solidFill>
              </a:rPr>
              <a:t>D:/IMP/ </a:t>
            </a:r>
            <a:r>
              <a:rPr lang="en-US" sz="2000" b="0" dirty="0"/>
              <a:t>or</a:t>
            </a:r>
            <a:r>
              <a:rPr lang="en-US" sz="2000" b="0" i="1" dirty="0"/>
              <a:t> </a:t>
            </a:r>
            <a:r>
              <a:rPr lang="en-US" sz="2000" b="0" i="1" dirty="0">
                <a:solidFill>
                  <a:srgbClr val="00A9E0"/>
                </a:solidFill>
              </a:rPr>
              <a:t>P:/IMP Labs/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2000" b="0" dirty="0"/>
              <a:t>Select language </a:t>
            </a:r>
            <a:r>
              <a:rPr lang="en-US" sz="2000" dirty="0"/>
              <a:t>C</a:t>
            </a:r>
            <a:r>
              <a:rPr lang="en-US" sz="2000" b="0" dirty="0"/>
              <a:t>; leave the default linker script and click </a:t>
            </a:r>
            <a:r>
              <a:rPr lang="en-US" sz="2000" dirty="0"/>
              <a:t>Finish</a:t>
            </a:r>
            <a:endParaRPr lang="en-US" sz="2000" i="1" u="sng" kern="0" dirty="0">
              <a:solidFill>
                <a:srgbClr val="00A9E0"/>
              </a:solidFill>
            </a:endParaRPr>
          </a:p>
        </p:txBody>
      </p:sp>
      <p:pic>
        <p:nvPicPr>
          <p:cNvPr id="18" name="Grafický objekt 17" descr="Odznak 1 se souvislou výplní">
            <a:extLst>
              <a:ext uri="{FF2B5EF4-FFF2-40B4-BE49-F238E27FC236}">
                <a16:creationId xmlns:a16="http://schemas.microsoft.com/office/drawing/2014/main" id="{E2764ADF-6CA6-A2D8-89B7-7858534B1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8532" y="1144777"/>
            <a:ext cx="510040" cy="510040"/>
          </a:xfrm>
          <a:prstGeom prst="rect">
            <a:avLst/>
          </a:prstGeom>
        </p:spPr>
      </p:pic>
      <p:pic>
        <p:nvPicPr>
          <p:cNvPr id="21" name="Grafický objekt 20" descr="Odznak se souvislou výplní">
            <a:extLst>
              <a:ext uri="{FF2B5EF4-FFF2-40B4-BE49-F238E27FC236}">
                <a16:creationId xmlns:a16="http://schemas.microsoft.com/office/drawing/2014/main" id="{4563D32B-51F5-10F7-AEF0-4FA63E890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2434" y="1982445"/>
            <a:ext cx="492894" cy="492894"/>
          </a:xfrm>
          <a:prstGeom prst="rect">
            <a:avLst/>
          </a:prstGeom>
        </p:spPr>
      </p:pic>
      <p:pic>
        <p:nvPicPr>
          <p:cNvPr id="23" name="Grafický objekt 22" descr="Odznak 3 se souvislou výplní">
            <a:extLst>
              <a:ext uri="{FF2B5EF4-FFF2-40B4-BE49-F238E27FC236}">
                <a16:creationId xmlns:a16="http://schemas.microsoft.com/office/drawing/2014/main" id="{39125F00-4161-42D8-858D-26A8B47E9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5240" y="4005064"/>
            <a:ext cx="457200" cy="457200"/>
          </a:xfrm>
          <a:prstGeom prst="rect">
            <a:avLst/>
          </a:prstGeom>
        </p:spPr>
      </p:pic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521EBE06-A069-4042-4265-02AA3F690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5F901-7D22-0507-E63F-30DB3D771A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36" y="637182"/>
            <a:ext cx="3749450" cy="12806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C650D3-C23D-A49D-B289-1B7453055A6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36" y="2074277"/>
            <a:ext cx="3749450" cy="2198088"/>
          </a:xfrm>
          <a:prstGeom prst="rect">
            <a:avLst/>
          </a:prstGeom>
        </p:spPr>
      </p:pic>
      <p:sp>
        <p:nvSpPr>
          <p:cNvPr id="14" name="Šipka: nahoru 9">
            <a:extLst>
              <a:ext uri="{FF2B5EF4-FFF2-40B4-BE49-F238E27FC236}">
                <a16:creationId xmlns:a16="http://schemas.microsoft.com/office/drawing/2014/main" id="{31128D52-DB8B-CBD5-FB36-E213EF15C3EB}"/>
              </a:ext>
            </a:extLst>
          </p:cNvPr>
          <p:cNvSpPr/>
          <p:nvPr/>
        </p:nvSpPr>
        <p:spPr bwMode="auto">
          <a:xfrm>
            <a:off x="8159824" y="3367277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16" name="Šipka: nahoru 9">
            <a:extLst>
              <a:ext uri="{FF2B5EF4-FFF2-40B4-BE49-F238E27FC236}">
                <a16:creationId xmlns:a16="http://schemas.microsoft.com/office/drawing/2014/main" id="{5B376D89-25FB-4090-7037-8F1D02884B12}"/>
              </a:ext>
            </a:extLst>
          </p:cNvPr>
          <p:cNvSpPr/>
          <p:nvPr/>
        </p:nvSpPr>
        <p:spPr bwMode="auto">
          <a:xfrm rot="12252445">
            <a:off x="4172962" y="1688542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17" name="Šipka: nahoru 9">
            <a:extLst>
              <a:ext uri="{FF2B5EF4-FFF2-40B4-BE49-F238E27FC236}">
                <a16:creationId xmlns:a16="http://schemas.microsoft.com/office/drawing/2014/main" id="{3F0C0029-1A70-94BA-DBB1-75120E08E3F2}"/>
              </a:ext>
            </a:extLst>
          </p:cNvPr>
          <p:cNvSpPr/>
          <p:nvPr/>
        </p:nvSpPr>
        <p:spPr bwMode="auto">
          <a:xfrm rot="16200000">
            <a:off x="3840001" y="1048177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20" name="Šipka: nahoru 9">
            <a:extLst>
              <a:ext uri="{FF2B5EF4-FFF2-40B4-BE49-F238E27FC236}">
                <a16:creationId xmlns:a16="http://schemas.microsoft.com/office/drawing/2014/main" id="{866313D9-C962-1514-9A0F-D8D8D03CA1F0}"/>
              </a:ext>
            </a:extLst>
          </p:cNvPr>
          <p:cNvSpPr/>
          <p:nvPr/>
        </p:nvSpPr>
        <p:spPr bwMode="auto">
          <a:xfrm>
            <a:off x="5634865" y="1336208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61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B8155B-0660-8C15-D2C9-CD330777BD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86" y="581148"/>
            <a:ext cx="8418763" cy="433441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MCUXpresso</a:t>
            </a:r>
            <a:r>
              <a:rPr lang="en-US" dirty="0"/>
              <a:t> IDE – Build and Flash 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10</a:t>
            </a:fld>
            <a:endParaRPr lang="en-GB" altLang="cs-CZ"/>
          </a:p>
        </p:txBody>
      </p:sp>
      <p:sp>
        <p:nvSpPr>
          <p:cNvPr id="9" name="Šipka: nahoru 8">
            <a:extLst>
              <a:ext uri="{FF2B5EF4-FFF2-40B4-BE49-F238E27FC236}">
                <a16:creationId xmlns:a16="http://schemas.microsoft.com/office/drawing/2014/main" id="{1226B9E8-AA2C-B87B-BDB8-4CC803A20DBA}"/>
              </a:ext>
            </a:extLst>
          </p:cNvPr>
          <p:cNvSpPr/>
          <p:nvPr/>
        </p:nvSpPr>
        <p:spPr bwMode="auto">
          <a:xfrm>
            <a:off x="1070144" y="1098398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10" name="Šipka: nahoru 9">
            <a:extLst>
              <a:ext uri="{FF2B5EF4-FFF2-40B4-BE49-F238E27FC236}">
                <a16:creationId xmlns:a16="http://schemas.microsoft.com/office/drawing/2014/main" id="{865BE668-0DEC-AEEC-9C24-35398E6C2026}"/>
              </a:ext>
            </a:extLst>
          </p:cNvPr>
          <p:cNvSpPr/>
          <p:nvPr/>
        </p:nvSpPr>
        <p:spPr bwMode="auto">
          <a:xfrm rot="16200000">
            <a:off x="6012160" y="4069336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12" name="Grafický objekt 11" descr="Odznak 1 se souvislou výplní">
            <a:extLst>
              <a:ext uri="{FF2B5EF4-FFF2-40B4-BE49-F238E27FC236}">
                <a16:creationId xmlns:a16="http://schemas.microsoft.com/office/drawing/2014/main" id="{32B60064-FE10-3EFB-70A4-908864638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140" y="1736793"/>
            <a:ext cx="510040" cy="510040"/>
          </a:xfrm>
          <a:prstGeom prst="rect">
            <a:avLst/>
          </a:prstGeom>
        </p:spPr>
      </p:pic>
      <p:pic>
        <p:nvPicPr>
          <p:cNvPr id="14" name="Grafický objekt 13" descr="Odznak se souvislou výplní">
            <a:extLst>
              <a:ext uri="{FF2B5EF4-FFF2-40B4-BE49-F238E27FC236}">
                <a16:creationId xmlns:a16="http://schemas.microsoft.com/office/drawing/2014/main" id="{27723883-7032-5F63-C47A-060CA1638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7601" y="1656615"/>
            <a:ext cx="492894" cy="492894"/>
          </a:xfrm>
          <a:prstGeom prst="rect">
            <a:avLst/>
          </a:prstGeom>
        </p:spPr>
      </p:pic>
      <p:pic>
        <p:nvPicPr>
          <p:cNvPr id="16" name="Grafický objekt 15" descr="Odznak 3 se souvislou výplní">
            <a:extLst>
              <a:ext uri="{FF2B5EF4-FFF2-40B4-BE49-F238E27FC236}">
                <a16:creationId xmlns:a16="http://schemas.microsoft.com/office/drawing/2014/main" id="{F7C44C92-676B-19DC-18F9-65CE1EDA0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3230" y="1594817"/>
            <a:ext cx="457200" cy="457200"/>
          </a:xfrm>
          <a:prstGeom prst="rect">
            <a:avLst/>
          </a:prstGeom>
        </p:spPr>
      </p:pic>
      <p:sp>
        <p:nvSpPr>
          <p:cNvPr id="17" name="Šipka: nahoru 16">
            <a:extLst>
              <a:ext uri="{FF2B5EF4-FFF2-40B4-BE49-F238E27FC236}">
                <a16:creationId xmlns:a16="http://schemas.microsoft.com/office/drawing/2014/main" id="{0CB60986-4D26-5ABF-C347-4AA54414C193}"/>
              </a:ext>
            </a:extLst>
          </p:cNvPr>
          <p:cNvSpPr/>
          <p:nvPr/>
        </p:nvSpPr>
        <p:spPr bwMode="auto">
          <a:xfrm rot="1440203">
            <a:off x="8342299" y="1006946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19" name="Zástupný symbol pro obsah 2">
            <a:extLst>
              <a:ext uri="{FF2B5EF4-FFF2-40B4-BE49-F238E27FC236}">
                <a16:creationId xmlns:a16="http://schemas.microsoft.com/office/drawing/2014/main" id="{E918CB50-E07E-DFDE-0399-85368762FA7A}"/>
              </a:ext>
            </a:extLst>
          </p:cNvPr>
          <p:cNvSpPr txBox="1">
            <a:spLocks/>
          </p:cNvSpPr>
          <p:nvPr/>
        </p:nvSpPr>
        <p:spPr bwMode="auto">
          <a:xfrm>
            <a:off x="358487" y="4941168"/>
            <a:ext cx="8640763" cy="1552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1pPr>
            <a:lvl2pPr marL="742895" indent="-28573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2pPr>
            <a:lvl3pPr marL="114291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3pPr>
            <a:lvl4pPr marL="160008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4pPr>
            <a:lvl5pPr marL="2057247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5pPr>
            <a:lvl6pPr marL="2514412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971578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342874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88591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600" kern="0" dirty="0"/>
              <a:t>Bu</a:t>
            </a:r>
            <a:r>
              <a:rPr lang="en-US" sz="1600" dirty="0"/>
              <a:t>ild </a:t>
            </a:r>
            <a:r>
              <a:rPr lang="en-US" sz="1600" b="0" dirty="0"/>
              <a:t>(hammer icon) – compiles sources and links the binary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600" dirty="0"/>
              <a:t>Debug</a:t>
            </a:r>
            <a:r>
              <a:rPr lang="en-US" sz="1600" b="0" dirty="0"/>
              <a:t> (bug icon) – starts an interactive debug session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600" dirty="0"/>
              <a:t>Perspective switcher </a:t>
            </a:r>
            <a:r>
              <a:rPr lang="en-US" sz="1600" b="0" dirty="0"/>
              <a:t>– toggle between C/C++ (edit) and Debug views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600" dirty="0"/>
              <a:t>Console panel </a:t>
            </a:r>
            <a:r>
              <a:rPr lang="en-US" sz="1600" b="0" dirty="0"/>
              <a:t>– build output; check here for errors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600" dirty="0"/>
              <a:t>Variables/Registers/ Memory </a:t>
            </a:r>
            <a:r>
              <a:rPr lang="en-US" sz="1600" b="0" dirty="0"/>
              <a:t>– inspect MCU state at runtime </a:t>
            </a:r>
            <a:r>
              <a:rPr lang="en-US" sz="1600" dirty="0"/>
              <a:t>next to console panel</a:t>
            </a:r>
            <a:endParaRPr lang="cs-CZ" sz="1600" kern="0" dirty="0"/>
          </a:p>
        </p:txBody>
      </p:sp>
      <p:sp>
        <p:nvSpPr>
          <p:cNvPr id="20" name="Šipka: nahoru 19">
            <a:extLst>
              <a:ext uri="{FF2B5EF4-FFF2-40B4-BE49-F238E27FC236}">
                <a16:creationId xmlns:a16="http://schemas.microsoft.com/office/drawing/2014/main" id="{3CFDDA53-C839-1BF0-BA20-9CB0987E6C72}"/>
              </a:ext>
            </a:extLst>
          </p:cNvPr>
          <p:cNvSpPr/>
          <p:nvPr/>
        </p:nvSpPr>
        <p:spPr bwMode="auto">
          <a:xfrm>
            <a:off x="4860032" y="1061920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26BB166A-9435-73E2-4431-71587E3AC4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pic>
        <p:nvPicPr>
          <p:cNvPr id="15" name="Grafický objekt 21" descr="Odznak 4 se souvislou výplní">
            <a:extLst>
              <a:ext uri="{FF2B5EF4-FFF2-40B4-BE49-F238E27FC236}">
                <a16:creationId xmlns:a16="http://schemas.microsoft.com/office/drawing/2014/main" id="{29EA773F-7105-647E-0718-B538D24BE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9839" y="4128767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7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MCUXpresso</a:t>
            </a:r>
            <a:r>
              <a:rPr lang="en-US" dirty="0"/>
              <a:t> IDE – Debug Configuration 1 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11</a:t>
            </a:fld>
            <a:endParaRPr lang="en-GB" altLang="cs-CZ"/>
          </a:p>
        </p:txBody>
      </p:sp>
      <p:sp>
        <p:nvSpPr>
          <p:cNvPr id="19" name="Zástupný symbol pro obsah 2">
            <a:extLst>
              <a:ext uri="{FF2B5EF4-FFF2-40B4-BE49-F238E27FC236}">
                <a16:creationId xmlns:a16="http://schemas.microsoft.com/office/drawing/2014/main" id="{E918CB50-E07E-DFDE-0399-85368762FA7A}"/>
              </a:ext>
            </a:extLst>
          </p:cNvPr>
          <p:cNvSpPr txBox="1">
            <a:spLocks/>
          </p:cNvSpPr>
          <p:nvPr/>
        </p:nvSpPr>
        <p:spPr bwMode="auto">
          <a:xfrm>
            <a:off x="358488" y="620713"/>
            <a:ext cx="3586408" cy="561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1pPr>
            <a:lvl2pPr marL="742895" indent="-28573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2pPr>
            <a:lvl3pPr marL="114291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3pPr>
            <a:lvl4pPr marL="160008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4pPr>
            <a:lvl5pPr marL="2057247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5pPr>
            <a:lvl6pPr marL="2514412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971578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342874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88591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800" b="0" dirty="0"/>
              <a:t>Arrow next to </a:t>
            </a:r>
            <a:r>
              <a:rPr lang="en-US" sz="1800" dirty="0"/>
              <a:t>Debug</a:t>
            </a:r>
            <a:r>
              <a:rPr lang="en-US" sz="1800" b="0" dirty="0"/>
              <a:t> → </a:t>
            </a:r>
            <a:r>
              <a:rPr lang="en-US" sz="1800" dirty="0"/>
              <a:t>Debug Configurations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800" b="0" dirty="0"/>
              <a:t>Expand </a:t>
            </a:r>
            <a:r>
              <a:rPr lang="en-US" sz="1800" dirty="0"/>
              <a:t>GDB SEGGER Interface Debugging</a:t>
            </a:r>
            <a:r>
              <a:rPr lang="en-US" sz="1800" b="0" dirty="0"/>
              <a:t>; select or create the project entry </a:t>
            </a:r>
          </a:p>
          <a:p>
            <a:pPr marL="0" indent="0">
              <a:buClr>
                <a:srgbClr val="00A9E0"/>
              </a:buClr>
              <a:buNone/>
            </a:pPr>
            <a:r>
              <a:rPr lang="en-US" sz="1800" dirty="0"/>
              <a:t>Main</a:t>
            </a:r>
            <a:r>
              <a:rPr lang="en-US" sz="1800" b="0" dirty="0"/>
              <a:t> tab – verify: </a:t>
            </a:r>
          </a:p>
          <a:p>
            <a:pPr>
              <a:buClr>
                <a:srgbClr val="00A9E0"/>
              </a:buClr>
            </a:pPr>
            <a:r>
              <a:rPr lang="en-US" sz="1800" b="0" dirty="0">
                <a:solidFill>
                  <a:srgbClr val="00A9E0"/>
                </a:solidFill>
              </a:rPr>
              <a:t>Project</a:t>
            </a:r>
            <a:r>
              <a:rPr lang="en-US" sz="1800" b="0" dirty="0"/>
              <a:t> – your project name </a:t>
            </a:r>
          </a:p>
          <a:p>
            <a:pPr>
              <a:buClr>
                <a:srgbClr val="00A9E0"/>
              </a:buClr>
            </a:pPr>
            <a:r>
              <a:rPr lang="en-US" sz="1800" b="0" dirty="0">
                <a:solidFill>
                  <a:srgbClr val="00A9E0"/>
                </a:solidFill>
              </a:rPr>
              <a:t>C/C++ Application </a:t>
            </a:r>
            <a:r>
              <a:rPr lang="en-US" sz="1800" b="0" dirty="0"/>
              <a:t>path</a:t>
            </a:r>
          </a:p>
          <a:p>
            <a:pPr marL="342900" indent="-342900">
              <a:buClr>
                <a:srgbClr val="00A9E0"/>
              </a:buClr>
              <a:buFont typeface="+mj-lt"/>
              <a:buAutoNum type="arabicPeriod" startAt="3"/>
            </a:pPr>
            <a:r>
              <a:rPr lang="en-US" sz="1800" dirty="0" err="1"/>
              <a:t>JLink</a:t>
            </a:r>
            <a:r>
              <a:rPr lang="en-US" sz="1800" dirty="0"/>
              <a:t> Debugger </a:t>
            </a:r>
            <a:r>
              <a:rPr lang="en-US" sz="1800" b="0" dirty="0"/>
              <a:t>tab verify:</a:t>
            </a:r>
          </a:p>
          <a:p>
            <a:pPr>
              <a:buClr>
                <a:srgbClr val="00A9E0"/>
              </a:buClr>
            </a:pPr>
            <a:r>
              <a:rPr lang="en-US" sz="1800" b="0" dirty="0"/>
              <a:t>Device: </a:t>
            </a:r>
            <a:r>
              <a:rPr lang="en-US" sz="1800" dirty="0">
                <a:solidFill>
                  <a:srgbClr val="00A9E0"/>
                </a:solidFill>
              </a:rPr>
              <a:t>MCXC143</a:t>
            </a:r>
          </a:p>
          <a:p>
            <a:pPr>
              <a:buClr>
                <a:srgbClr val="00A9E0"/>
              </a:buClr>
            </a:pPr>
            <a:r>
              <a:rPr lang="en-US" sz="1800" b="0" dirty="0"/>
              <a:t>Target Interface: </a:t>
            </a:r>
            <a:r>
              <a:rPr lang="en-US" sz="1800" dirty="0">
                <a:solidFill>
                  <a:srgbClr val="00A9E0"/>
                </a:solidFill>
              </a:rPr>
              <a:t>SWD</a:t>
            </a:r>
          </a:p>
          <a:p>
            <a:pPr>
              <a:buClr>
                <a:srgbClr val="00A9E0"/>
              </a:buClr>
            </a:pPr>
            <a:r>
              <a:rPr lang="en-US" sz="1800" b="0" dirty="0" err="1"/>
              <a:t>JLink</a:t>
            </a:r>
            <a:r>
              <a:rPr lang="en-US" sz="1800" b="0" dirty="0"/>
              <a:t> Interface: </a:t>
            </a:r>
            <a:r>
              <a:rPr lang="en-US" sz="1800" dirty="0">
                <a:solidFill>
                  <a:srgbClr val="00A9E0"/>
                </a:solidFill>
              </a:rPr>
              <a:t>USB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 startAt="4"/>
            </a:pPr>
            <a:r>
              <a:rPr lang="en-US" sz="1800" b="0" dirty="0"/>
              <a:t>Click Debug and resume execution: </a:t>
            </a:r>
            <a:r>
              <a:rPr lang="en-US" sz="1800" dirty="0"/>
              <a:t>F8</a:t>
            </a:r>
            <a:r>
              <a:rPr lang="en-US" sz="1800" b="0" dirty="0"/>
              <a:t> or green </a:t>
            </a:r>
            <a:r>
              <a:rPr lang="en-US" sz="1800" dirty="0"/>
              <a:t>Resume</a:t>
            </a:r>
            <a:r>
              <a:rPr lang="en-US" sz="1800" b="0" dirty="0"/>
              <a:t> button</a:t>
            </a:r>
            <a:endParaRPr lang="en-US" sz="1800" b="0" u="sng" kern="0" dirty="0"/>
          </a:p>
        </p:txBody>
      </p:sp>
      <p:pic>
        <p:nvPicPr>
          <p:cNvPr id="8" name="Grafický objekt 7" descr="Odznak 1 se souvislou výplní">
            <a:extLst>
              <a:ext uri="{FF2B5EF4-FFF2-40B4-BE49-F238E27FC236}">
                <a16:creationId xmlns:a16="http://schemas.microsoft.com/office/drawing/2014/main" id="{18BB4A2D-DC75-5852-9206-C1E0ED00F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1920" y="1694836"/>
            <a:ext cx="510040" cy="510040"/>
          </a:xfrm>
          <a:prstGeom prst="rect">
            <a:avLst/>
          </a:prstGeom>
        </p:spPr>
      </p:pic>
      <p:pic>
        <p:nvPicPr>
          <p:cNvPr id="12" name="Grafický objekt 11" descr="Odznak se souvislou výplní">
            <a:extLst>
              <a:ext uri="{FF2B5EF4-FFF2-40B4-BE49-F238E27FC236}">
                <a16:creationId xmlns:a16="http://schemas.microsoft.com/office/drawing/2014/main" id="{3291F836-E5AA-108E-001F-3C0AE13184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3928" y="4448274"/>
            <a:ext cx="492894" cy="492894"/>
          </a:xfrm>
          <a:prstGeom prst="rect">
            <a:avLst/>
          </a:prstGeom>
        </p:spPr>
      </p:pic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754E6C5B-0651-71E5-E3C2-3E6000760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0187EB-A653-D6B1-C1C1-39621D030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350" y="1071650"/>
            <a:ext cx="4001188" cy="1963199"/>
          </a:xfrm>
          <a:prstGeom prst="rect">
            <a:avLst/>
          </a:prstGeom>
        </p:spPr>
      </p:pic>
      <p:sp>
        <p:nvSpPr>
          <p:cNvPr id="20" name="Šipka: nahoru 12">
            <a:extLst>
              <a:ext uri="{FF2B5EF4-FFF2-40B4-BE49-F238E27FC236}">
                <a16:creationId xmlns:a16="http://schemas.microsoft.com/office/drawing/2014/main" id="{8D66415D-843A-711B-356F-83A934A1FFC4}"/>
              </a:ext>
            </a:extLst>
          </p:cNvPr>
          <p:cNvSpPr/>
          <p:nvPr/>
        </p:nvSpPr>
        <p:spPr bwMode="auto">
          <a:xfrm rot="3557234">
            <a:off x="4533147" y="1357419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 dirty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5F2B3FF-4F61-3E52-82DF-DF574C4214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41" y="3520984"/>
            <a:ext cx="4454395" cy="245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2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FF6A-DE17-D32D-1A91-43529D20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7283E-90CB-001B-F366-CCDAEEB9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MCUXpresso</a:t>
            </a:r>
            <a:r>
              <a:rPr lang="en-US" dirty="0"/>
              <a:t> IDE – Debug Configuration 2 </a:t>
            </a:r>
            <a:endParaRPr lang="en-GB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26F7DBA-F7D9-C87A-61AC-21C35CCD8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12</a:t>
            </a:fld>
            <a:endParaRPr lang="en-GB" altLang="cs-CZ"/>
          </a:p>
        </p:txBody>
      </p:sp>
      <p:sp>
        <p:nvSpPr>
          <p:cNvPr id="19" name="Zástupný symbol pro obsah 2">
            <a:extLst>
              <a:ext uri="{FF2B5EF4-FFF2-40B4-BE49-F238E27FC236}">
                <a16:creationId xmlns:a16="http://schemas.microsoft.com/office/drawing/2014/main" id="{C9E2925F-F1AA-C569-DAD5-75F8161BE2F1}"/>
              </a:ext>
            </a:extLst>
          </p:cNvPr>
          <p:cNvSpPr txBox="1">
            <a:spLocks/>
          </p:cNvSpPr>
          <p:nvPr/>
        </p:nvSpPr>
        <p:spPr bwMode="auto">
          <a:xfrm>
            <a:off x="358488" y="620713"/>
            <a:ext cx="3586408" cy="561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1pPr>
            <a:lvl2pPr marL="742895" indent="-28573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2pPr>
            <a:lvl3pPr marL="114291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3pPr>
            <a:lvl4pPr marL="160008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4pPr>
            <a:lvl5pPr marL="2057247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5pPr>
            <a:lvl6pPr marL="2514412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971578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342874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88591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800" b="0" dirty="0"/>
              <a:t>Arrow next to </a:t>
            </a:r>
            <a:r>
              <a:rPr lang="en-US" sz="1800" dirty="0"/>
              <a:t>Debug</a:t>
            </a:r>
            <a:r>
              <a:rPr lang="en-US" sz="1800" b="0" dirty="0"/>
              <a:t> → </a:t>
            </a:r>
            <a:r>
              <a:rPr lang="en-US" sz="1800" dirty="0"/>
              <a:t>Debug Configurations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/>
            </a:pPr>
            <a:r>
              <a:rPr lang="en-US" sz="1800" b="0" dirty="0"/>
              <a:t>Expand </a:t>
            </a:r>
            <a:r>
              <a:rPr lang="en-US" sz="1800" dirty="0"/>
              <a:t>GDB SEGGER Interface Debugging</a:t>
            </a:r>
            <a:r>
              <a:rPr lang="en-US" sz="1800" b="0" dirty="0"/>
              <a:t>; select or create the project entry </a:t>
            </a:r>
          </a:p>
          <a:p>
            <a:pPr marL="0" indent="0">
              <a:buClr>
                <a:srgbClr val="00A9E0"/>
              </a:buClr>
              <a:buNone/>
            </a:pPr>
            <a:r>
              <a:rPr lang="en-US" sz="1800" dirty="0"/>
              <a:t>Main</a:t>
            </a:r>
            <a:r>
              <a:rPr lang="en-US" sz="1800" b="0" dirty="0"/>
              <a:t> tab – verify: </a:t>
            </a:r>
          </a:p>
          <a:p>
            <a:pPr>
              <a:buClr>
                <a:srgbClr val="00A9E0"/>
              </a:buClr>
            </a:pPr>
            <a:r>
              <a:rPr lang="en-US" sz="1800" b="0" dirty="0">
                <a:solidFill>
                  <a:srgbClr val="00A9E0"/>
                </a:solidFill>
              </a:rPr>
              <a:t>Project</a:t>
            </a:r>
            <a:r>
              <a:rPr lang="en-US" sz="1800" b="0" dirty="0"/>
              <a:t> – your project name </a:t>
            </a:r>
          </a:p>
          <a:p>
            <a:pPr>
              <a:buClr>
                <a:srgbClr val="00A9E0"/>
              </a:buClr>
            </a:pPr>
            <a:r>
              <a:rPr lang="en-US" sz="1800" b="0" dirty="0">
                <a:solidFill>
                  <a:srgbClr val="00A9E0"/>
                </a:solidFill>
              </a:rPr>
              <a:t>C/C++ Application </a:t>
            </a:r>
            <a:r>
              <a:rPr lang="en-US" sz="1800" b="0" dirty="0"/>
              <a:t>path</a:t>
            </a:r>
          </a:p>
          <a:p>
            <a:pPr marL="342900" indent="-342900">
              <a:buClr>
                <a:srgbClr val="00A9E0"/>
              </a:buClr>
              <a:buFont typeface="+mj-lt"/>
              <a:buAutoNum type="arabicPeriod" startAt="3"/>
            </a:pPr>
            <a:r>
              <a:rPr lang="en-US" sz="1800" dirty="0" err="1"/>
              <a:t>JLink</a:t>
            </a:r>
            <a:r>
              <a:rPr lang="en-US" sz="1800" dirty="0"/>
              <a:t> Debugger </a:t>
            </a:r>
            <a:r>
              <a:rPr lang="en-US" sz="1800" b="0" dirty="0"/>
              <a:t>tab verify:</a:t>
            </a:r>
          </a:p>
          <a:p>
            <a:pPr>
              <a:buClr>
                <a:srgbClr val="00A9E0"/>
              </a:buClr>
            </a:pPr>
            <a:r>
              <a:rPr lang="en-US" sz="1800" b="0" dirty="0"/>
              <a:t>Device: </a:t>
            </a:r>
            <a:r>
              <a:rPr lang="en-US" sz="1800" dirty="0">
                <a:solidFill>
                  <a:srgbClr val="00A9E0"/>
                </a:solidFill>
              </a:rPr>
              <a:t>MCXC143</a:t>
            </a:r>
          </a:p>
          <a:p>
            <a:pPr>
              <a:buClr>
                <a:srgbClr val="00A9E0"/>
              </a:buClr>
            </a:pPr>
            <a:r>
              <a:rPr lang="en-US" sz="1800" b="0" dirty="0"/>
              <a:t>Target Interface: </a:t>
            </a:r>
            <a:r>
              <a:rPr lang="en-US" sz="1800" dirty="0">
                <a:solidFill>
                  <a:srgbClr val="00A9E0"/>
                </a:solidFill>
              </a:rPr>
              <a:t>SWD</a:t>
            </a:r>
          </a:p>
          <a:p>
            <a:pPr>
              <a:buClr>
                <a:srgbClr val="00A9E0"/>
              </a:buClr>
            </a:pPr>
            <a:r>
              <a:rPr lang="en-US" sz="1800" b="0" dirty="0" err="1"/>
              <a:t>JLink</a:t>
            </a:r>
            <a:r>
              <a:rPr lang="en-US" sz="1800" b="0" dirty="0"/>
              <a:t> Interface: </a:t>
            </a:r>
            <a:r>
              <a:rPr lang="en-US" sz="1800" dirty="0">
                <a:solidFill>
                  <a:srgbClr val="00A9E0"/>
                </a:solidFill>
              </a:rPr>
              <a:t>USB</a:t>
            </a:r>
          </a:p>
          <a:p>
            <a:pPr marL="457200" indent="-457200">
              <a:buClr>
                <a:srgbClr val="00A9E0"/>
              </a:buClr>
              <a:buFont typeface="+mj-lt"/>
              <a:buAutoNum type="arabicParenR" startAt="4"/>
            </a:pPr>
            <a:r>
              <a:rPr lang="en-US" sz="1800" b="0" dirty="0"/>
              <a:t>Click Debug and resume execution: </a:t>
            </a:r>
            <a:r>
              <a:rPr lang="en-US" sz="1800" dirty="0"/>
              <a:t>F8</a:t>
            </a:r>
            <a:r>
              <a:rPr lang="en-US" sz="1800" b="0" dirty="0"/>
              <a:t> or green </a:t>
            </a:r>
            <a:r>
              <a:rPr lang="en-US" sz="1800" dirty="0"/>
              <a:t>Resume</a:t>
            </a:r>
            <a:r>
              <a:rPr lang="en-US" sz="1800" b="0" dirty="0"/>
              <a:t> button</a:t>
            </a:r>
            <a:endParaRPr lang="en-US" sz="1800" b="0" u="sng" kern="0" dirty="0"/>
          </a:p>
        </p:txBody>
      </p:sp>
      <p:pic>
        <p:nvPicPr>
          <p:cNvPr id="14" name="Grafický objekt 13" descr="Odznak 3 se souvislou výplní">
            <a:extLst>
              <a:ext uri="{FF2B5EF4-FFF2-40B4-BE49-F238E27FC236}">
                <a16:creationId xmlns:a16="http://schemas.microsoft.com/office/drawing/2014/main" id="{20896029-679E-A504-6EDF-1F5E401AD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4896" y="1697791"/>
            <a:ext cx="457200" cy="457200"/>
          </a:xfrm>
          <a:prstGeom prst="rect">
            <a:avLst/>
          </a:prstGeom>
        </p:spPr>
      </p:pic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6864BE0D-C456-176A-921F-F816DEF882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pic>
        <p:nvPicPr>
          <p:cNvPr id="4" name="Grafický objekt 21" descr="Odznak 4 se souvislou výplní">
            <a:extLst>
              <a:ext uri="{FF2B5EF4-FFF2-40B4-BE49-F238E27FC236}">
                <a16:creationId xmlns:a16="http://schemas.microsoft.com/office/drawing/2014/main" id="{FECA8E43-A3B9-63B0-4419-C877ED147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4896" y="4421153"/>
            <a:ext cx="457200" cy="457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6F6678-802E-81BC-C416-9F919CF42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43" y="620713"/>
            <a:ext cx="4454395" cy="2611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BCE44-5F5F-F8DF-C8CB-9E8AF5234C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42" y="3412789"/>
            <a:ext cx="4454395" cy="2688715"/>
          </a:xfrm>
          <a:prstGeom prst="rect">
            <a:avLst/>
          </a:prstGeom>
        </p:spPr>
      </p:pic>
      <p:sp>
        <p:nvSpPr>
          <p:cNvPr id="11" name="Šipka: nahoru 12">
            <a:extLst>
              <a:ext uri="{FF2B5EF4-FFF2-40B4-BE49-F238E27FC236}">
                <a16:creationId xmlns:a16="http://schemas.microsoft.com/office/drawing/2014/main" id="{B2AB62A0-CF40-1B00-08D8-3868276306D1}"/>
              </a:ext>
            </a:extLst>
          </p:cNvPr>
          <p:cNvSpPr/>
          <p:nvPr/>
        </p:nvSpPr>
        <p:spPr bwMode="auto">
          <a:xfrm rot="2202765">
            <a:off x="4384831" y="3659507"/>
            <a:ext cx="423665" cy="789103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 dirty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5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855" y="-100013"/>
            <a:ext cx="7699375" cy="720726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MCUXpresso</a:t>
            </a:r>
            <a:r>
              <a:rPr lang="en-US" dirty="0"/>
              <a:t> IDE – Running and Stopping Code 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8172450" y="6524635"/>
            <a:ext cx="827088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GB" altLang="cs-CZ" smtClean="0"/>
              <a:pPr>
                <a:spcAft>
                  <a:spcPts val="600"/>
                </a:spcAft>
              </a:pPr>
              <a:t>13</a:t>
            </a:fld>
            <a:endParaRPr lang="en-GB" altLang="cs-CZ"/>
          </a:p>
        </p:txBody>
      </p:sp>
      <p:sp>
        <p:nvSpPr>
          <p:cNvPr id="3" name="Zástupný symbol pro zápatí 3">
            <a:extLst>
              <a:ext uri="{FF2B5EF4-FFF2-40B4-BE49-F238E27FC236}">
                <a16:creationId xmlns:a16="http://schemas.microsoft.com/office/drawing/2014/main" id="{76E5B110-7012-AD7E-9364-195E9D19BB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cs-CZ" dirty="0"/>
              <a:t>IMP – demo cvičení</a:t>
            </a:r>
            <a:r>
              <a:rPr lang="en-GB" dirty="0"/>
              <a:t>   (25</a:t>
            </a:r>
            <a:r>
              <a:rPr lang="cs-CZ" dirty="0"/>
              <a:t>.09.202</a:t>
            </a:r>
            <a:r>
              <a:rPr lang="en-GB" dirty="0"/>
              <a:t>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F5493-D940-9F77-9B6C-785CBCB1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081" y="953327"/>
            <a:ext cx="3563442" cy="1714192"/>
          </a:xfrm>
          <a:prstGeom prst="rect">
            <a:avLst/>
          </a:prstGeom>
        </p:spPr>
      </p:pic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0991F2C0-0192-5723-DEB3-144FA5D71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135" y="2970990"/>
            <a:ext cx="8820149" cy="2357644"/>
          </a:xfrm>
        </p:spPr>
        <p:txBody>
          <a:bodyPr wrap="square" anchor="t">
            <a:normAutofit/>
          </a:bodyPr>
          <a:lstStyle/>
          <a:p>
            <a:pPr marL="457200" indent="-457200">
              <a:lnSpc>
                <a:spcPct val="90000"/>
              </a:lnSpc>
              <a:buClr>
                <a:srgbClr val="00A9E0"/>
              </a:buClr>
              <a:buFont typeface="+mj-lt"/>
              <a:buAutoNum type="arabicParenR"/>
            </a:pPr>
            <a:r>
              <a:rPr lang="en-US" sz="2200" b="1" dirty="0"/>
              <a:t>Resume (F8) </a:t>
            </a:r>
            <a:r>
              <a:rPr lang="en-US" sz="2200" dirty="0"/>
              <a:t>– starts or continues execution on the MCU</a:t>
            </a:r>
          </a:p>
          <a:p>
            <a:pPr marL="457200" indent="-457200">
              <a:lnSpc>
                <a:spcPct val="90000"/>
              </a:lnSpc>
              <a:buClr>
                <a:srgbClr val="00A9E0"/>
              </a:buClr>
              <a:buFont typeface="+mj-lt"/>
              <a:buAutoNum type="arabicParenR"/>
            </a:pPr>
            <a:r>
              <a:rPr lang="en-US" sz="2200" b="1" dirty="0"/>
              <a:t>Suspend</a:t>
            </a:r>
            <a:r>
              <a:rPr lang="en-US" sz="2200" dirty="0"/>
              <a:t> – pauses execution; inspect variables, registers, memory</a:t>
            </a:r>
          </a:p>
          <a:p>
            <a:pPr marL="457200" indent="-457200">
              <a:lnSpc>
                <a:spcPct val="90000"/>
              </a:lnSpc>
              <a:buClr>
                <a:srgbClr val="00A9E0"/>
              </a:buClr>
              <a:buFont typeface="+mj-lt"/>
              <a:buAutoNum type="arabicParenR"/>
            </a:pPr>
            <a:r>
              <a:rPr lang="en-US" sz="2200" b="1" dirty="0"/>
              <a:t>Terminate (Ctrl+F2) </a:t>
            </a:r>
            <a:r>
              <a:rPr lang="en-US" sz="2200" dirty="0"/>
              <a:t>– ends the debug session. Confirm the entry in the </a:t>
            </a:r>
            <a:r>
              <a:rPr lang="en-US" sz="2200" dirty="0">
                <a:solidFill>
                  <a:srgbClr val="00A9E0"/>
                </a:solidFill>
              </a:rPr>
              <a:t>Debug</a:t>
            </a:r>
            <a:r>
              <a:rPr lang="en-US" sz="2200" dirty="0"/>
              <a:t> view turns </a:t>
            </a:r>
            <a:r>
              <a:rPr lang="en-US" sz="2200" b="1" dirty="0"/>
              <a:t>grey</a:t>
            </a:r>
            <a:r>
              <a:rPr lang="en-US" sz="2200" dirty="0"/>
              <a:t>. A red entry means the session is still active – </a:t>
            </a:r>
            <a:r>
              <a:rPr lang="en-US" sz="2200" dirty="0">
                <a:solidFill>
                  <a:srgbClr val="00A9E0"/>
                </a:solidFill>
              </a:rPr>
              <a:t>cannot be restarted!</a:t>
            </a:r>
          </a:p>
          <a:p>
            <a:pPr marL="457200" indent="-457200">
              <a:lnSpc>
                <a:spcPct val="90000"/>
              </a:lnSpc>
              <a:buClr>
                <a:srgbClr val="00A9E0"/>
              </a:buClr>
              <a:buFont typeface="+mj-lt"/>
              <a:buAutoNum type="arabicParenR"/>
            </a:pPr>
            <a:r>
              <a:rPr lang="en-US" sz="2200" dirty="0"/>
              <a:t>After terminating, click the </a:t>
            </a:r>
            <a:r>
              <a:rPr lang="en-US" sz="2200" b="1" dirty="0"/>
              <a:t>C/C++ </a:t>
            </a:r>
            <a:r>
              <a:rPr lang="en-US" sz="2200" dirty="0"/>
              <a:t>perspective to return to the editor</a:t>
            </a:r>
          </a:p>
        </p:txBody>
      </p:sp>
      <p:sp>
        <p:nvSpPr>
          <p:cNvPr id="16" name="Šipka: nahoru 12">
            <a:extLst>
              <a:ext uri="{FF2B5EF4-FFF2-40B4-BE49-F238E27FC236}">
                <a16:creationId xmlns:a16="http://schemas.microsoft.com/office/drawing/2014/main" id="{BBBF0FE6-9EB9-055E-6362-BFB94D1688E9}"/>
              </a:ext>
            </a:extLst>
          </p:cNvPr>
          <p:cNvSpPr/>
          <p:nvPr/>
        </p:nvSpPr>
        <p:spPr bwMode="auto">
          <a:xfrm rot="4662911">
            <a:off x="5382385" y="1470288"/>
            <a:ext cx="308235" cy="689642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 dirty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5424F9-6BB6-5E62-560D-E263D2031A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1" y="787730"/>
            <a:ext cx="3563888" cy="2003660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A823E41-0A39-42BC-AE53-76565013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26557"/>
              </p:ext>
            </p:extLst>
          </p:nvPr>
        </p:nvGraphicFramePr>
        <p:xfrm>
          <a:off x="750203" y="5229200"/>
          <a:ext cx="7992888" cy="1097280"/>
        </p:xfrm>
        <a:graphic>
          <a:graphicData uri="http://schemas.openxmlformats.org/drawingml/2006/table">
            <a:tbl>
              <a:tblPr firstRow="1" bandRow="1"/>
              <a:tblGrid>
                <a:gridCol w="7992888">
                  <a:extLst>
                    <a:ext uri="{9D8B030D-6E8A-4147-A177-3AD203B41FA5}">
                      <a16:colId xmlns:a16="http://schemas.microsoft.com/office/drawing/2014/main" val="201274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E6E6E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Stuck debug session 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0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382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 the debug thread hangs, right-click </a:t>
                      </a:r>
                      <a:r>
                        <a:rPr lang="en-US" sz="1600" dirty="0"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&lt;terminated&gt;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the </a:t>
                      </a:r>
                      <a:r>
                        <a:rPr lang="en-US" sz="2000" dirty="0">
                          <a:solidFill>
                            <a:srgbClr val="00A9E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view and choose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Terminate and Remove </a:t>
                      </a:r>
                      <a:r>
                        <a:rPr lang="en-US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 click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Clean Up Debug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08224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F86D28C-7063-87F9-A662-527738CD430D}"/>
              </a:ext>
            </a:extLst>
          </p:cNvPr>
          <p:cNvSpPr/>
          <p:nvPr/>
        </p:nvSpPr>
        <p:spPr bwMode="auto">
          <a:xfrm>
            <a:off x="752889" y="5661248"/>
            <a:ext cx="7992888" cy="1081721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24" name="Grafický objekt 6" descr="Odznak 1 se souvislou výplní">
            <a:extLst>
              <a:ext uri="{FF2B5EF4-FFF2-40B4-BE49-F238E27FC236}">
                <a16:creationId xmlns:a16="http://schemas.microsoft.com/office/drawing/2014/main" id="{2A73E585-D85B-9E70-EBDD-20AE59D41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20" y="836712"/>
            <a:ext cx="510040" cy="510040"/>
          </a:xfrm>
          <a:prstGeom prst="rect">
            <a:avLst/>
          </a:prstGeom>
        </p:spPr>
      </p:pic>
      <p:sp>
        <p:nvSpPr>
          <p:cNvPr id="25" name="Šipka: nahoru 10">
            <a:extLst>
              <a:ext uri="{FF2B5EF4-FFF2-40B4-BE49-F238E27FC236}">
                <a16:creationId xmlns:a16="http://schemas.microsoft.com/office/drawing/2014/main" id="{FE7C269A-501A-8E6E-4C02-AB610ABBA3F2}"/>
              </a:ext>
            </a:extLst>
          </p:cNvPr>
          <p:cNvSpPr/>
          <p:nvPr/>
        </p:nvSpPr>
        <p:spPr bwMode="auto">
          <a:xfrm rot="5400000">
            <a:off x="905576" y="803700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sp>
        <p:nvSpPr>
          <p:cNvPr id="26" name="Šipka: nahoru 14">
            <a:extLst>
              <a:ext uri="{FF2B5EF4-FFF2-40B4-BE49-F238E27FC236}">
                <a16:creationId xmlns:a16="http://schemas.microsoft.com/office/drawing/2014/main" id="{5F2C8276-6F35-1A8B-4B65-F69D69B31E3C}"/>
              </a:ext>
            </a:extLst>
          </p:cNvPr>
          <p:cNvSpPr/>
          <p:nvPr/>
        </p:nvSpPr>
        <p:spPr bwMode="auto">
          <a:xfrm>
            <a:off x="1366614" y="1225931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 dirty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27" name="Grafický objekt 15" descr="Odznak se souvislou výplní">
            <a:extLst>
              <a:ext uri="{FF2B5EF4-FFF2-40B4-BE49-F238E27FC236}">
                <a16:creationId xmlns:a16="http://schemas.microsoft.com/office/drawing/2014/main" id="{8B1E37B5-3206-B7F3-9BF9-362973BC9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4183" y="1783978"/>
            <a:ext cx="492894" cy="492894"/>
          </a:xfrm>
          <a:prstGeom prst="rect">
            <a:avLst/>
          </a:prstGeom>
        </p:spPr>
      </p:pic>
      <p:sp>
        <p:nvSpPr>
          <p:cNvPr id="28" name="Šipka: nahoru 16">
            <a:extLst>
              <a:ext uri="{FF2B5EF4-FFF2-40B4-BE49-F238E27FC236}">
                <a16:creationId xmlns:a16="http://schemas.microsoft.com/office/drawing/2014/main" id="{8609F99F-0B0C-933B-1528-B11BEEDB7147}"/>
              </a:ext>
            </a:extLst>
          </p:cNvPr>
          <p:cNvSpPr/>
          <p:nvPr/>
        </p:nvSpPr>
        <p:spPr bwMode="auto">
          <a:xfrm rot="16200000">
            <a:off x="1850258" y="803700"/>
            <a:ext cx="288032" cy="576064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 dirty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  <p:pic>
        <p:nvPicPr>
          <p:cNvPr id="29" name="Grafický objekt 17" descr="Odznak 3 se souvislou výplní">
            <a:extLst>
              <a:ext uri="{FF2B5EF4-FFF2-40B4-BE49-F238E27FC236}">
                <a16:creationId xmlns:a16="http://schemas.microsoft.com/office/drawing/2014/main" id="{8A618E04-034B-002E-04F6-5108DE6BB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2094" y="863132"/>
            <a:ext cx="457200" cy="457200"/>
          </a:xfrm>
          <a:prstGeom prst="rect">
            <a:avLst/>
          </a:prstGeom>
        </p:spPr>
      </p:pic>
      <p:pic>
        <p:nvPicPr>
          <p:cNvPr id="30" name="Grafický objekt 21" descr="Odznak 4 se souvislou výplní">
            <a:extLst>
              <a:ext uri="{FF2B5EF4-FFF2-40B4-BE49-F238E27FC236}">
                <a16:creationId xmlns:a16="http://schemas.microsoft.com/office/drawing/2014/main" id="{A324C143-A0A6-727A-F600-8C697454E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0299" y="168719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46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47E896-72A5-4F5C-A084-C3BB30A3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CodeExample</a:t>
            </a:r>
            <a:r>
              <a:rPr lang="en-US" dirty="0"/>
              <a:t> – Piezo Buzzer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BAE961-EAA9-4364-B080-505D02EFA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487" y="764704"/>
            <a:ext cx="4213513" cy="5330825"/>
          </a:xfrm>
        </p:spPr>
        <p:txBody>
          <a:bodyPr numCol="1"/>
          <a:lstStyle/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"MCXC143.h“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delay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uint32_t n) {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(n--);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/*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Disable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watchdog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explicitly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SIM-&gt;COPC = SIM_COPC_COPT(0);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/*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clock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gate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Port B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SIM-&gt;SCGC5 |= SIM_SCGC5_PORTB_MASK;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/* PTB0 -&gt; GPIO output (MUX = 1)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PORTB-&gt;PCR[0] = PORT_PCR_MUX(1);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GPIOB-&gt;PDDR  |= (1u &lt;&lt; 0);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GPIOB-&gt;PCOR   = (1u &lt;&lt; 0);   /* start LOW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(;;) {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GPIOB-&gt;PSOR = (1u &lt;&lt; 0);  /* PTB0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delay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(50000u);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GPIOB-&gt;PCOR = (1u &lt;&lt; 0);  /* PTB0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*/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cs-CZ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delay</a:t>
            </a: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(50000u);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2833EDD-A1DF-4E07-9EAA-28890AEF30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14</a:t>
            </a:fld>
            <a:endParaRPr lang="en-US" altLang="cs-CZ"/>
          </a:p>
        </p:txBody>
      </p:sp>
      <p:sp>
        <p:nvSpPr>
          <p:cNvPr id="6" name="Zástupný symbol pro zápatí 3">
            <a:extLst>
              <a:ext uri="{FF2B5EF4-FFF2-40B4-BE49-F238E27FC236}">
                <a16:creationId xmlns:a16="http://schemas.microsoft.com/office/drawing/2014/main" id="{AD125D94-061E-B244-0401-6FE77A0F47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9B82ED0A-8B54-2CDA-CE57-84F8D0749582}"/>
              </a:ext>
            </a:extLst>
          </p:cNvPr>
          <p:cNvSpPr txBox="1">
            <a:spLocks/>
          </p:cNvSpPr>
          <p:nvPr/>
        </p:nvSpPr>
        <p:spPr bwMode="auto">
          <a:xfrm>
            <a:off x="4542125" y="908695"/>
            <a:ext cx="4243388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1pPr>
            <a:lvl2pPr marL="742895" indent="-28573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2pPr>
            <a:lvl3pPr marL="114291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3pPr>
            <a:lvl4pPr marL="160008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4pPr>
            <a:lvl5pPr marL="2057247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0"/>
              </a:defRPr>
            </a:lvl5pPr>
            <a:lvl6pPr marL="2514412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971578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3428744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885910" indent="-2285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00A9E0"/>
              </a:buClr>
              <a:buFontTx/>
              <a:buNone/>
            </a:pPr>
            <a:r>
              <a:rPr lang="en-US" sz="2400" dirty="0"/>
              <a:t>Notes: 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b="0" dirty="0"/>
              <a:t>Header </a:t>
            </a:r>
            <a:r>
              <a:rPr lang="en-US" sz="2400" b="0" dirty="0">
                <a:latin typeface="Courier New" panose="02070309020205020404" pitchFamily="49" charset="0"/>
                <a:cs typeface="Courier New" panose="02070309020205020404" pitchFamily="49" charset="0"/>
              </a:rPr>
              <a:t>MCXC143.h</a:t>
            </a:r>
            <a:r>
              <a:rPr lang="en-US" sz="2400" b="0" dirty="0"/>
              <a:t> selected for MCXC143 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b="0" dirty="0"/>
              <a:t>Use atomic </a:t>
            </a:r>
            <a:r>
              <a:rPr lang="en-US" sz="2400" b="0" dirty="0">
                <a:solidFill>
                  <a:srgbClr val="00A9E0"/>
                </a:solidFill>
              </a:rPr>
              <a:t>PSOR/PCOR </a:t>
            </a:r>
            <a:r>
              <a:rPr lang="en-US" sz="2400" b="0" dirty="0"/>
              <a:t>instead of read-modify write on </a:t>
            </a:r>
            <a:r>
              <a:rPr lang="en-US" sz="2400" b="0" dirty="0">
                <a:solidFill>
                  <a:srgbClr val="00A9E0"/>
                </a:solidFill>
              </a:rPr>
              <a:t>PDOR</a:t>
            </a:r>
            <a:r>
              <a:rPr lang="en-US" sz="2400" b="0" dirty="0"/>
              <a:t> 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b="0" dirty="0"/>
              <a:t>Watchdog disabled explicitly via </a:t>
            </a:r>
            <a:r>
              <a:rPr lang="en-US" sz="2400" b="0" dirty="0">
                <a:solidFill>
                  <a:srgbClr val="00A9E0"/>
                </a:solidFill>
              </a:rPr>
              <a:t>SIM-&gt;COPC</a:t>
            </a:r>
          </a:p>
          <a:p>
            <a:pPr>
              <a:lnSpc>
                <a:spcPct val="90000"/>
              </a:lnSpc>
              <a:buClr>
                <a:srgbClr val="00A9E0"/>
              </a:buClr>
            </a:pPr>
            <a:r>
              <a:rPr lang="en-US" sz="2400" dirty="0"/>
              <a:t>BEEPER PWM </a:t>
            </a:r>
            <a:r>
              <a:rPr lang="en-US" sz="2400" b="0" dirty="0"/>
              <a:t>is wired to</a:t>
            </a:r>
            <a:r>
              <a:rPr lang="en-US" sz="2400" dirty="0"/>
              <a:t> PTB0 </a:t>
            </a:r>
            <a:r>
              <a:rPr lang="en-US" sz="2400" b="0" dirty="0"/>
              <a:t>on the kit (see schematic ARM Kit CORE</a:t>
            </a:r>
            <a:endParaRPr lang="en-US" sz="2400" b="0" kern="0" dirty="0"/>
          </a:p>
        </p:txBody>
      </p:sp>
    </p:spTree>
    <p:extLst>
      <p:ext uri="{BB962C8B-B14F-4D97-AF65-F5344CB8AC3E}">
        <p14:creationId xmlns:p14="http://schemas.microsoft.com/office/powerpoint/2010/main" val="20099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MCUXpresso</a:t>
            </a:r>
            <a:r>
              <a:rPr lang="de-DE" dirty="0"/>
              <a:t> SDK – Interrupt Handler Names</a:t>
            </a:r>
            <a:endParaRPr lang="en-GB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GB" altLang="cs-CZ" smtClean="0"/>
              <a:pPr/>
              <a:t>15</a:t>
            </a:fld>
            <a:endParaRPr lang="en-GB" alt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FDB846-7F09-4659-8859-5547BE499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2200" b="1" dirty="0" err="1"/>
              <a:t>Override</a:t>
            </a:r>
            <a:r>
              <a:rPr lang="cs-CZ" sz="2200" b="1" dirty="0"/>
              <a:t> in </a:t>
            </a:r>
            <a:r>
              <a:rPr lang="cs-CZ" sz="2200" b="1" dirty="0" err="1"/>
              <a:t>your</a:t>
            </a:r>
            <a:r>
              <a:rPr lang="cs-CZ" sz="2200" b="1" dirty="0"/>
              <a:t> </a:t>
            </a:r>
            <a:r>
              <a:rPr lang="cs-CZ" sz="2200" b="1" dirty="0" err="1"/>
              <a:t>application</a:t>
            </a:r>
            <a:r>
              <a:rPr lang="cs-CZ" sz="2200" b="1" dirty="0"/>
              <a:t> </a:t>
            </a:r>
            <a:r>
              <a:rPr lang="cs-CZ" sz="2200" b="1" dirty="0" err="1"/>
              <a:t>code</a:t>
            </a:r>
            <a:r>
              <a:rPr lang="en-US" sz="2200" b="1" dirty="0"/>
              <a:t>:</a:t>
            </a: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DMA0_IRQHandler(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DMA1_IRQHandler(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DMA2_IRQHandler(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DMA3_IRQHandler(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FTFE_IRQHandler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 /*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Flash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done  */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LVD_LVW_IRQHandler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LLWU_IRQHandler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I2C0_IRQHandler(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SPI0_IRQHandler(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UART2_IRQHandler(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/* RS-232      */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ADC0_IRQHandler(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CMP0_IRQHandler(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TPM0_IRQHandler(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 /* RGB PWM     */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TPM1_IRQHandler(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 /*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Buzzer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PWM  */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RTC_IRQHandler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PIT_IRQHandler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LPTMR0_IRQHandler(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PORTA_IRQHandler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PORTB_IRQHandler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PORTC_PORTD_IRQHandler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/* C and D     */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PORTE_IRQHandler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cs-C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6" name="Zástupný symbol pro zápatí 3">
            <a:extLst>
              <a:ext uri="{FF2B5EF4-FFF2-40B4-BE49-F238E27FC236}">
                <a16:creationId xmlns:a16="http://schemas.microsoft.com/office/drawing/2014/main" id="{913C8799-0FF7-FB2F-D495-252CF7FCF8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50" y="6524635"/>
            <a:ext cx="7848600" cy="333375"/>
          </a:xfrm>
        </p:spPr>
        <p:txBody>
          <a:bodyPr/>
          <a:lstStyle/>
          <a:p>
            <a:pPr>
              <a:defRPr/>
            </a:pPr>
            <a:r>
              <a:rPr lang="sk-SK" dirty="0" err="1"/>
              <a:t>IMPe</a:t>
            </a:r>
            <a:r>
              <a:rPr lang="sk-SK" dirty="0"/>
              <a:t> </a:t>
            </a:r>
            <a:r>
              <a:rPr lang="sk-SK" dirty="0" err="1"/>
              <a:t>lab</a:t>
            </a:r>
            <a:r>
              <a:rPr lang="sk-SK" dirty="0"/>
              <a:t> </a:t>
            </a:r>
            <a:r>
              <a:rPr lang="sk-SK" dirty="0" err="1"/>
              <a:t>kit</a:t>
            </a:r>
            <a:r>
              <a:rPr lang="sk-SK" dirty="0"/>
              <a:t>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13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Zástupný symbol pro zápatí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895" indent="-28573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2914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080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247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412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578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8744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5910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cs-CZ" sz="14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COST LD14055 Průběžné oponentní řízení  (26.01.2016)</a:t>
            </a:r>
          </a:p>
        </p:txBody>
      </p:sp>
      <p:sp>
        <p:nvSpPr>
          <p:cNvPr id="7171" name="Zástupný symbol pro číslo snímku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895" indent="-28573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2914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080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247" indent="-228584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412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578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8744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5910" indent="-228584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fld id="{FEDFD966-7C53-4760-A6CA-2A53F1524792}" type="slidenum">
              <a:rPr lang="en-US" altLang="cs-CZ" sz="1400" b="0">
                <a:solidFill>
                  <a:schemeClr val="bg1"/>
                </a:solidFill>
                <a:latin typeface="Calibri" panose="020F0502020204030204" pitchFamily="34" charset="0"/>
              </a:rPr>
              <a:pPr/>
              <a:t>16</a:t>
            </a:fld>
            <a:endParaRPr lang="en-US" altLang="cs-CZ" sz="1400" b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7172" name="Rectangle 4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-1524000" y="0"/>
            <a:ext cx="12360696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cs-CZ" altLang="cs-CZ"/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685800" y="2895607"/>
            <a:ext cx="8001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cs-CZ" sz="36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B9000C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B9000C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a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51108 001 FIT nový styl 4x3 EN-001" id="{A7821D2F-9854-4CB8-B5D8-CB6210D7296B}" vid="{3F5EDCCD-F176-48EF-A9DF-CCDD6D82C3A2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FIT novy styl 4x3 EN</Template>
  <TotalTime>4279</TotalTime>
  <Words>1271</Words>
  <Application>Microsoft Office PowerPoint</Application>
  <PresentationFormat>On-screen Show (4:3)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Century Gothic</vt:lpstr>
      <vt:lpstr>Courier New</vt:lpstr>
      <vt:lpstr>Tahoma</vt:lpstr>
      <vt:lpstr>Verdana</vt:lpstr>
      <vt:lpstr>101021 FIT Calibri</vt:lpstr>
      <vt:lpstr>Introduction to the Laboratory ARMKit with MCXC143VFT</vt:lpstr>
      <vt:lpstr>Content</vt:lpstr>
      <vt:lpstr>32-bit ARM MCU Laboratory Kit</vt:lpstr>
      <vt:lpstr>Schematic– Debug Interface </vt:lpstr>
      <vt:lpstr>Schematic – SWD Debug Interface </vt:lpstr>
      <vt:lpstr>Schematic – Target MCU MCXC143VFT</vt:lpstr>
      <vt:lpstr>Schematic– RS-232 and 7-Segment Display</vt:lpstr>
      <vt:lpstr>Schematic – Buttons, RGB LED, Buzzer, Potentiometer</vt:lpstr>
      <vt:lpstr>MCUXpresso IDE – Creating a New Project</vt:lpstr>
      <vt:lpstr>MCUXpresso IDE – Build and Flash </vt:lpstr>
      <vt:lpstr>MCUXpresso IDE – Debug Configuration 1 </vt:lpstr>
      <vt:lpstr>MCUXpresso IDE – Debug Configuration 2 </vt:lpstr>
      <vt:lpstr>MCUXpresso IDE – Running and Stopping Code </vt:lpstr>
      <vt:lpstr>CodeExample – Piezo Buzzer </vt:lpstr>
      <vt:lpstr>MCUXpresso SDK – Interrupt Handler Names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Růžička Richard, doc. Ing., Ph.D.</dc:creator>
  <cp:lastModifiedBy>Sýkora Juraj (259925)</cp:lastModifiedBy>
  <cp:revision>321</cp:revision>
  <dcterms:created xsi:type="dcterms:W3CDTF">2016-01-25T11:44:25Z</dcterms:created>
  <dcterms:modified xsi:type="dcterms:W3CDTF">2026-05-20T14:59:51Z</dcterms:modified>
</cp:coreProperties>
</file>